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66" r:id="rId3"/>
    <p:sldId id="267" r:id="rId4"/>
    <p:sldId id="268" r:id="rId5"/>
    <p:sldId id="269" r:id="rId6"/>
    <p:sldId id="270" r:id="rId7"/>
    <p:sldId id="271" r:id="rId8"/>
    <p:sldId id="272" r:id="rId9"/>
    <p:sldId id="265" r:id="rId10"/>
    <p:sldId id="257" r:id="rId11"/>
    <p:sldId id="258" r:id="rId12"/>
    <p:sldId id="259" r:id="rId13"/>
    <p:sldId id="260" r:id="rId14"/>
    <p:sldId id="261" r:id="rId15"/>
    <p:sldId id="262" r:id="rId16"/>
    <p:sldId id="263" r:id="rId17"/>
    <p:sldId id="264" r:id="rId18"/>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wholeTbl>
    <a:band2H>
      <a:tcTxStyle/>
      <a:tcStyle>
        <a:tcBdr/>
        <a:fill>
          <a:solidFill>
            <a:srgbClr val="FFFFFF"/>
          </a:solidFill>
        </a:fill>
      </a:tcStyle>
    </a:band2H>
    <a:firstCol>
      <a:tcTxStyle b="off" i="off">
        <a:fontRef idx="maj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firstCol>
    <a:lastRow>
      <a:tcTxStyle b="off" i="off">
        <a:fontRef idx="maj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lastRow>
    <a:firstRow>
      <a:tcTxStyle b="off" i="off">
        <a:fontRef idx="maj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E2CD"/>
          </a:solidFill>
        </a:fill>
      </a:tcStyle>
    </a:wholeTbl>
    <a:band2H>
      <a:tcTxStyle/>
      <a:tcStyle>
        <a:tcBdr/>
        <a:fill>
          <a:solidFill>
            <a:srgbClr val="FF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5DBDE"/>
          </a:solidFill>
        </a:fill>
      </a:tcStyle>
    </a:wholeTbl>
    <a:band2H>
      <a:tcTxStyle/>
      <a:tcStyle>
        <a:tcBdr/>
        <a:fill>
          <a:solidFill>
            <a:srgbClr val="EBEEE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8FFCD"/>
          </a:solidFill>
        </a:fill>
      </a:tcStyle>
    </a:wholeTbl>
    <a:band2H>
      <a:tcTxStyle/>
      <a:tcStyle>
        <a:tcBdr/>
        <a:fill>
          <a:solidFill>
            <a:srgbClr val="FCFF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08"/>
    <p:restoredTop sz="94762"/>
  </p:normalViewPr>
  <p:slideViewPr>
    <p:cSldViewPr snapToGrid="0">
      <p:cViewPr varScale="1">
        <p:scale>
          <a:sx n="202" d="100"/>
          <a:sy n="202" d="100"/>
        </p:scale>
        <p:origin x="702" y="1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6" name="Shape 106"/>
          <p:cNvSpPr>
            <a:spLocks noGrp="1" noRot="1" noChangeAspect="1"/>
          </p:cNvSpPr>
          <p:nvPr>
            <p:ph type="sldImg"/>
          </p:nvPr>
        </p:nvSpPr>
        <p:spPr>
          <a:xfrm>
            <a:off x="1143000" y="685800"/>
            <a:ext cx="4572000" cy="3429000"/>
          </a:xfrm>
          <a:prstGeom prst="rect">
            <a:avLst/>
          </a:prstGeom>
        </p:spPr>
        <p:txBody>
          <a:bodyPr/>
          <a:lstStyle/>
          <a:p>
            <a:endParaRPr/>
          </a:p>
        </p:txBody>
      </p:sp>
      <p:sp>
        <p:nvSpPr>
          <p:cNvPr id="107" name="Shape 10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311708" y="744574"/>
            <a:ext cx="8520601" cy="2052601"/>
          </a:xfrm>
          <a:prstGeom prst="rect">
            <a:avLst/>
          </a:prstGeom>
        </p:spPr>
        <p:txBody>
          <a:bodyPr anchor="b"/>
          <a:lstStyle>
            <a:lvl1pPr algn="ctr">
              <a:defRPr sz="5200"/>
            </a:lvl1pPr>
          </a:lstStyle>
          <a:p>
            <a:r>
              <a:t>Title Text</a:t>
            </a:r>
          </a:p>
        </p:txBody>
      </p:sp>
      <p:sp>
        <p:nvSpPr>
          <p:cNvPr id="12" name="Body Level One…"/>
          <p:cNvSpPr txBox="1">
            <a:spLocks noGrp="1"/>
          </p:cNvSpPr>
          <p:nvPr>
            <p:ph type="body" sz="quarter" idx="1"/>
          </p:nvPr>
        </p:nvSpPr>
        <p:spPr>
          <a:xfrm>
            <a:off x="311699" y="2834125"/>
            <a:ext cx="8520602" cy="792601"/>
          </a:xfrm>
          <a:prstGeom prst="rect">
            <a:avLst/>
          </a:prstGeom>
        </p:spPr>
        <p:txBody>
          <a:bodyPr/>
          <a:lstStyle>
            <a:lvl1pPr marL="342900" indent="-228600" algn="ctr">
              <a:lnSpc>
                <a:spcPct val="100000"/>
              </a:lnSpc>
              <a:buClrTx/>
              <a:buSzTx/>
              <a:buFontTx/>
              <a:buNone/>
              <a:defRPr sz="2800"/>
            </a:lvl1pPr>
            <a:lvl2pPr marL="342900" indent="254000" algn="ctr">
              <a:lnSpc>
                <a:spcPct val="100000"/>
              </a:lnSpc>
              <a:buClrTx/>
              <a:buSzTx/>
              <a:buFontTx/>
              <a:buNone/>
              <a:defRPr sz="2800"/>
            </a:lvl2pPr>
            <a:lvl3pPr marL="342900" indent="711200" algn="ctr">
              <a:lnSpc>
                <a:spcPct val="100000"/>
              </a:lnSpc>
              <a:buClrTx/>
              <a:buSzTx/>
              <a:buFontTx/>
              <a:buNone/>
              <a:defRPr sz="2800"/>
            </a:lvl3pPr>
            <a:lvl4pPr marL="342900" indent="1168400" algn="ctr">
              <a:lnSpc>
                <a:spcPct val="100000"/>
              </a:lnSpc>
              <a:buClrTx/>
              <a:buSzTx/>
              <a:buFontTx/>
              <a:buNone/>
              <a:defRPr sz="2800"/>
            </a:lvl4pPr>
            <a:lvl5pPr marL="342900" indent="1625600" algn="ctr">
              <a:lnSpc>
                <a:spcPct val="100000"/>
              </a:lnSpc>
              <a:buClrTx/>
              <a:buSzTx/>
              <a:buFontTx/>
              <a:buNone/>
              <a:defRPr sz="28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SECTION_HEADER">
    <p:spTree>
      <p:nvGrpSpPr>
        <p:cNvPr id="1" name=""/>
        <p:cNvGrpSpPr/>
        <p:nvPr/>
      </p:nvGrpSpPr>
      <p:grpSpPr>
        <a:xfrm>
          <a:off x="0" y="0"/>
          <a:ext cx="0" cy="0"/>
          <a:chOff x="0" y="0"/>
          <a:chExt cx="0" cy="0"/>
        </a:xfrm>
      </p:grpSpPr>
      <p:sp>
        <p:nvSpPr>
          <p:cNvPr id="20" name="Title Text"/>
          <p:cNvSpPr txBox="1">
            <a:spLocks noGrp="1"/>
          </p:cNvSpPr>
          <p:nvPr>
            <p:ph type="title"/>
          </p:nvPr>
        </p:nvSpPr>
        <p:spPr>
          <a:xfrm>
            <a:off x="311699" y="2150849"/>
            <a:ext cx="8520602" cy="841801"/>
          </a:xfrm>
          <a:prstGeom prst="rect">
            <a:avLst/>
          </a:prstGeom>
        </p:spPr>
        <p:txBody>
          <a:bodyPr anchor="ctr"/>
          <a:lstStyle>
            <a:lvl1pPr algn="ctr">
              <a:defRPr sz="3600"/>
            </a:lvl1pPr>
          </a:lstStyle>
          <a:p>
            <a:r>
              <a:t>Title Text</a:t>
            </a:r>
          </a:p>
        </p:txBody>
      </p:sp>
      <p:sp>
        <p:nvSpPr>
          <p:cNvPr id="2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_AND_BODY">
    <p:spTree>
      <p:nvGrpSpPr>
        <p:cNvPr id="1" name=""/>
        <p:cNvGrpSpPr/>
        <p:nvPr/>
      </p:nvGrpSpPr>
      <p:grpSpPr>
        <a:xfrm>
          <a:off x="0" y="0"/>
          <a:ext cx="0" cy="0"/>
          <a:chOff x="0" y="0"/>
          <a:chExt cx="0" cy="0"/>
        </a:xfrm>
      </p:grpSpPr>
      <p:sp>
        <p:nvSpPr>
          <p:cNvPr id="28" name="Title Text"/>
          <p:cNvSpPr txBox="1">
            <a:spLocks noGrp="1"/>
          </p:cNvSpPr>
          <p:nvPr>
            <p:ph type="title"/>
          </p:nvPr>
        </p:nvSpPr>
        <p:spPr>
          <a:prstGeom prst="rect">
            <a:avLst/>
          </a:prstGeom>
        </p:spPr>
        <p:txBody>
          <a:bodyPr/>
          <a:lstStyle/>
          <a:p>
            <a:r>
              <a:t>Title Text</a:t>
            </a:r>
          </a:p>
        </p:txBody>
      </p:sp>
      <p:sp>
        <p:nvSpPr>
          <p:cNvPr id="29"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_AND_TWO_COLUMNS">
    <p:spTree>
      <p:nvGrpSpPr>
        <p:cNvPr id="1" name=""/>
        <p:cNvGrpSpPr/>
        <p:nvPr/>
      </p:nvGrpSpPr>
      <p:grpSpPr>
        <a:xfrm>
          <a:off x="0" y="0"/>
          <a:ext cx="0" cy="0"/>
          <a:chOff x="0" y="0"/>
          <a:chExt cx="0" cy="0"/>
        </a:xfrm>
      </p:grpSpPr>
      <p:sp>
        <p:nvSpPr>
          <p:cNvPr id="37" name="Title Text"/>
          <p:cNvSpPr txBox="1">
            <a:spLocks noGrp="1"/>
          </p:cNvSpPr>
          <p:nvPr>
            <p:ph type="title"/>
          </p:nvPr>
        </p:nvSpPr>
        <p:spPr>
          <a:prstGeom prst="rect">
            <a:avLst/>
          </a:prstGeom>
        </p:spPr>
        <p:txBody>
          <a:bodyPr/>
          <a:lstStyle/>
          <a:p>
            <a:r>
              <a:t>Title Text</a:t>
            </a:r>
          </a:p>
        </p:txBody>
      </p:sp>
      <p:sp>
        <p:nvSpPr>
          <p:cNvPr id="38" name="Body Level One…"/>
          <p:cNvSpPr txBox="1">
            <a:spLocks noGrp="1"/>
          </p:cNvSpPr>
          <p:nvPr>
            <p:ph type="body" sz="half" idx="1"/>
          </p:nvPr>
        </p:nvSpPr>
        <p:spPr>
          <a:xfrm>
            <a:off x="311699" y="1152475"/>
            <a:ext cx="3999902" cy="3416400"/>
          </a:xfrm>
          <a:prstGeom prst="rect">
            <a:avLst/>
          </a:prstGeom>
        </p:spPr>
        <p:txBody>
          <a:bodyPr/>
          <a:lstStyle>
            <a:lvl1pPr indent="-317500">
              <a:buSzPts val="1400"/>
              <a:defRPr sz="1400"/>
            </a:lvl1pPr>
            <a:lvl2pPr marL="965200" indent="-355600">
              <a:buSzPts val="1400"/>
              <a:defRPr sz="1400"/>
            </a:lvl2pPr>
            <a:lvl3pPr marL="1422400" indent="-355600">
              <a:buSzPts val="1400"/>
              <a:defRPr sz="1400"/>
            </a:lvl3pPr>
            <a:lvl4pPr marL="1879600" indent="-355600">
              <a:buSzPts val="1400"/>
              <a:defRPr sz="1400"/>
            </a:lvl4pPr>
            <a:lvl5pPr marL="2336800" indent="-355600">
              <a:buSzPts val="1400"/>
              <a:defRPr sz="1400"/>
            </a:lvl5pPr>
          </a:lstStyle>
          <a:p>
            <a:r>
              <a:t>Body Level One</a:t>
            </a:r>
          </a:p>
          <a:p>
            <a:pPr lvl="1"/>
            <a:r>
              <a:t>Body Level Two</a:t>
            </a:r>
          </a:p>
          <a:p>
            <a:pPr lvl="2"/>
            <a:r>
              <a:t>Body Level Three</a:t>
            </a:r>
          </a:p>
          <a:p>
            <a:pPr lvl="3"/>
            <a:r>
              <a:t>Body Level Four</a:t>
            </a:r>
          </a:p>
          <a:p>
            <a:pPr lvl="4"/>
            <a:r>
              <a:t>Body Level Five</a:t>
            </a:r>
          </a:p>
        </p:txBody>
      </p:sp>
      <p:sp>
        <p:nvSpPr>
          <p:cNvPr id="39" name="Google Shape;23;p5"/>
          <p:cNvSpPr txBox="1">
            <a:spLocks noGrp="1"/>
          </p:cNvSpPr>
          <p:nvPr>
            <p:ph type="body" sz="half" idx="21"/>
          </p:nvPr>
        </p:nvSpPr>
        <p:spPr>
          <a:xfrm>
            <a:off x="4832399" y="1152475"/>
            <a:ext cx="3999902" cy="3416400"/>
          </a:xfrm>
          <a:prstGeom prst="rect">
            <a:avLst/>
          </a:prstGeom>
        </p:spPr>
        <p:txBody>
          <a:bodyPr/>
          <a:lstStyle/>
          <a:p>
            <a:pPr indent="-317500">
              <a:buSzPts val="1400"/>
              <a:defRPr sz="1400"/>
            </a:pPr>
            <a:endParaRP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_ONLY">
    <p:spTree>
      <p:nvGrpSpPr>
        <p:cNvPr id="1" name=""/>
        <p:cNvGrpSpPr/>
        <p:nvPr/>
      </p:nvGrpSpPr>
      <p:grpSpPr>
        <a:xfrm>
          <a:off x="0" y="0"/>
          <a:ext cx="0" cy="0"/>
          <a:chOff x="0" y="0"/>
          <a:chExt cx="0" cy="0"/>
        </a:xfrm>
      </p:grpSpPr>
      <p:sp>
        <p:nvSpPr>
          <p:cNvPr id="47" name="Title Text"/>
          <p:cNvSpPr txBox="1">
            <a:spLocks noGrp="1"/>
          </p:cNvSpPr>
          <p:nvPr>
            <p:ph type="title"/>
          </p:nvPr>
        </p:nvSpPr>
        <p:spPr>
          <a:prstGeom prst="rect">
            <a:avLst/>
          </a:prstGeom>
        </p:spPr>
        <p:txBody>
          <a:bodyPr/>
          <a:lstStyle/>
          <a:p>
            <a:r>
              <a:t>Title Text</a:t>
            </a:r>
          </a:p>
        </p:txBody>
      </p:sp>
      <p:sp>
        <p:nvSpPr>
          <p:cNvPr id="4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ONE_COLUMN_TEXT">
    <p:spTree>
      <p:nvGrpSpPr>
        <p:cNvPr id="1" name=""/>
        <p:cNvGrpSpPr/>
        <p:nvPr/>
      </p:nvGrpSpPr>
      <p:grpSpPr>
        <a:xfrm>
          <a:off x="0" y="0"/>
          <a:ext cx="0" cy="0"/>
          <a:chOff x="0" y="0"/>
          <a:chExt cx="0" cy="0"/>
        </a:xfrm>
      </p:grpSpPr>
      <p:sp>
        <p:nvSpPr>
          <p:cNvPr id="55" name="Title Text"/>
          <p:cNvSpPr txBox="1">
            <a:spLocks noGrp="1"/>
          </p:cNvSpPr>
          <p:nvPr>
            <p:ph type="title"/>
          </p:nvPr>
        </p:nvSpPr>
        <p:spPr>
          <a:xfrm>
            <a:off x="311699" y="555600"/>
            <a:ext cx="2808001" cy="755700"/>
          </a:xfrm>
          <a:prstGeom prst="rect">
            <a:avLst/>
          </a:prstGeom>
        </p:spPr>
        <p:txBody>
          <a:bodyPr anchor="b"/>
          <a:lstStyle>
            <a:lvl1pPr>
              <a:defRPr sz="2400"/>
            </a:lvl1pPr>
          </a:lstStyle>
          <a:p>
            <a:r>
              <a:t>Title Text</a:t>
            </a:r>
          </a:p>
        </p:txBody>
      </p:sp>
      <p:sp>
        <p:nvSpPr>
          <p:cNvPr id="56" name="Body Level One…"/>
          <p:cNvSpPr txBox="1">
            <a:spLocks noGrp="1"/>
          </p:cNvSpPr>
          <p:nvPr>
            <p:ph type="body" sz="quarter" idx="1"/>
          </p:nvPr>
        </p:nvSpPr>
        <p:spPr>
          <a:xfrm>
            <a:off x="311699" y="1389599"/>
            <a:ext cx="2808001" cy="3179401"/>
          </a:xfrm>
          <a:prstGeom prst="rect">
            <a:avLst/>
          </a:prstGeom>
        </p:spPr>
        <p:txBody>
          <a:bodyPr/>
          <a:lstStyle>
            <a:lvl1pPr indent="-304800">
              <a:buSzPts val="1200"/>
              <a:defRPr sz="1200"/>
            </a:lvl1pPr>
            <a:lvl2pPr marL="914400" indent="-304800">
              <a:buSzPts val="1200"/>
              <a:defRPr sz="1200"/>
            </a:lvl2pPr>
            <a:lvl3pPr marL="1371600" indent="-304800">
              <a:buSzPts val="1200"/>
              <a:defRPr sz="1200"/>
            </a:lvl3pPr>
            <a:lvl4pPr marL="1828800" indent="-304800">
              <a:buSzPts val="1200"/>
              <a:defRPr sz="1200"/>
            </a:lvl4pPr>
            <a:lvl5pPr marL="2286000" indent="-304800">
              <a:buSzPts val="1200"/>
              <a:defRPr sz="1200"/>
            </a:lvl5pPr>
          </a:lstStyle>
          <a:p>
            <a:r>
              <a:t>Body Level One</a:t>
            </a:r>
          </a:p>
          <a:p>
            <a:pPr lvl="1"/>
            <a:r>
              <a:t>Body Level Two</a:t>
            </a:r>
          </a:p>
          <a:p>
            <a:pPr lvl="2"/>
            <a:r>
              <a:t>Body Level Three</a:t>
            </a:r>
          </a:p>
          <a:p>
            <a:pPr lvl="3"/>
            <a:r>
              <a:t>Body Level Four</a:t>
            </a:r>
          </a:p>
          <a:p>
            <a:pPr lvl="4"/>
            <a:r>
              <a:t>Body Level Five</a:t>
            </a:r>
          </a:p>
        </p:txBody>
      </p:sp>
      <p:sp>
        <p:nvSpPr>
          <p:cNvPr id="5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MAIN_POINT">
    <p:spTree>
      <p:nvGrpSpPr>
        <p:cNvPr id="1" name=""/>
        <p:cNvGrpSpPr/>
        <p:nvPr/>
      </p:nvGrpSpPr>
      <p:grpSpPr>
        <a:xfrm>
          <a:off x="0" y="0"/>
          <a:ext cx="0" cy="0"/>
          <a:chOff x="0" y="0"/>
          <a:chExt cx="0" cy="0"/>
        </a:xfrm>
      </p:grpSpPr>
      <p:sp>
        <p:nvSpPr>
          <p:cNvPr id="64" name="Title Text"/>
          <p:cNvSpPr txBox="1">
            <a:spLocks noGrp="1"/>
          </p:cNvSpPr>
          <p:nvPr>
            <p:ph type="title"/>
          </p:nvPr>
        </p:nvSpPr>
        <p:spPr>
          <a:xfrm>
            <a:off x="490250" y="450149"/>
            <a:ext cx="6367801" cy="4090801"/>
          </a:xfrm>
          <a:prstGeom prst="rect">
            <a:avLst/>
          </a:prstGeom>
        </p:spPr>
        <p:txBody>
          <a:bodyPr anchor="ctr"/>
          <a:lstStyle>
            <a:lvl1pPr>
              <a:defRPr sz="4800"/>
            </a:lvl1pPr>
          </a:lstStyle>
          <a:p>
            <a:r>
              <a:t>Title Text</a:t>
            </a:r>
          </a:p>
        </p:txBody>
      </p:sp>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SECTION_TITLE_AND_DESCRIPTION">
    <p:spTree>
      <p:nvGrpSpPr>
        <p:cNvPr id="1" name=""/>
        <p:cNvGrpSpPr/>
        <p:nvPr/>
      </p:nvGrpSpPr>
      <p:grpSpPr>
        <a:xfrm>
          <a:off x="0" y="0"/>
          <a:ext cx="0" cy="0"/>
          <a:chOff x="0" y="0"/>
          <a:chExt cx="0" cy="0"/>
        </a:xfrm>
      </p:grpSpPr>
      <p:sp>
        <p:nvSpPr>
          <p:cNvPr id="72" name="Google Shape;36;p9"/>
          <p:cNvSpPr/>
          <p:nvPr/>
        </p:nvSpPr>
        <p:spPr>
          <a:xfrm>
            <a:off x="4572000" y="-125"/>
            <a:ext cx="4572000" cy="5143501"/>
          </a:xfrm>
          <a:prstGeom prst="rect">
            <a:avLst/>
          </a:prstGeom>
          <a:solidFill>
            <a:srgbClr val="EEEEEE"/>
          </a:solidFill>
          <a:ln w="12700">
            <a:miter lim="400000"/>
          </a:ln>
        </p:spPr>
        <p:txBody>
          <a:bodyPr lIns="0" tIns="0" rIns="0" bIns="0" anchor="ctr"/>
          <a:lstStyle/>
          <a:p>
            <a:endParaRPr/>
          </a:p>
        </p:txBody>
      </p:sp>
      <p:sp>
        <p:nvSpPr>
          <p:cNvPr id="73" name="Title Text"/>
          <p:cNvSpPr txBox="1">
            <a:spLocks noGrp="1"/>
          </p:cNvSpPr>
          <p:nvPr>
            <p:ph type="title"/>
          </p:nvPr>
        </p:nvSpPr>
        <p:spPr>
          <a:xfrm>
            <a:off x="265500" y="1233175"/>
            <a:ext cx="4045200" cy="1482301"/>
          </a:xfrm>
          <a:prstGeom prst="rect">
            <a:avLst/>
          </a:prstGeom>
        </p:spPr>
        <p:txBody>
          <a:bodyPr anchor="b"/>
          <a:lstStyle>
            <a:lvl1pPr algn="ctr">
              <a:defRPr sz="4200"/>
            </a:lvl1pPr>
          </a:lstStyle>
          <a:p>
            <a:r>
              <a:t>Title Text</a:t>
            </a:r>
          </a:p>
        </p:txBody>
      </p:sp>
      <p:sp>
        <p:nvSpPr>
          <p:cNvPr id="74" name="Body Level One…"/>
          <p:cNvSpPr txBox="1">
            <a:spLocks noGrp="1"/>
          </p:cNvSpPr>
          <p:nvPr>
            <p:ph type="body" sz="quarter" idx="1"/>
          </p:nvPr>
        </p:nvSpPr>
        <p:spPr>
          <a:xfrm>
            <a:off x="265500" y="2803075"/>
            <a:ext cx="4045200" cy="1235101"/>
          </a:xfrm>
          <a:prstGeom prst="rect">
            <a:avLst/>
          </a:prstGeom>
        </p:spPr>
        <p:txBody>
          <a:bodyPr/>
          <a:lstStyle>
            <a:lvl1pPr marL="342900" indent="-228600" algn="ctr">
              <a:lnSpc>
                <a:spcPct val="100000"/>
              </a:lnSpc>
              <a:buClrTx/>
              <a:buSzTx/>
              <a:buFontTx/>
              <a:buNone/>
              <a:defRPr sz="2100"/>
            </a:lvl1pPr>
            <a:lvl2pPr marL="342900" indent="254000" algn="ctr">
              <a:lnSpc>
                <a:spcPct val="100000"/>
              </a:lnSpc>
              <a:buClrTx/>
              <a:buSzTx/>
              <a:buFontTx/>
              <a:buNone/>
              <a:defRPr sz="2100"/>
            </a:lvl2pPr>
            <a:lvl3pPr marL="342900" indent="711200" algn="ctr">
              <a:lnSpc>
                <a:spcPct val="100000"/>
              </a:lnSpc>
              <a:buClrTx/>
              <a:buSzTx/>
              <a:buFontTx/>
              <a:buNone/>
              <a:defRPr sz="2100"/>
            </a:lvl3pPr>
            <a:lvl4pPr marL="342900" indent="1168400" algn="ctr">
              <a:lnSpc>
                <a:spcPct val="100000"/>
              </a:lnSpc>
              <a:buClrTx/>
              <a:buSzTx/>
              <a:buFontTx/>
              <a:buNone/>
              <a:defRPr sz="2100"/>
            </a:lvl4pPr>
            <a:lvl5pPr marL="342900" indent="1625600" algn="ctr">
              <a:lnSpc>
                <a:spcPct val="100000"/>
              </a:lnSpc>
              <a:buClrTx/>
              <a:buSzTx/>
              <a:buFontTx/>
              <a:buNone/>
              <a:defRPr sz="2100"/>
            </a:lvl5pPr>
          </a:lstStyle>
          <a:p>
            <a:r>
              <a:t>Body Level One</a:t>
            </a:r>
          </a:p>
          <a:p>
            <a:pPr lvl="1"/>
            <a:r>
              <a:t>Body Level Two</a:t>
            </a:r>
          </a:p>
          <a:p>
            <a:pPr lvl="2"/>
            <a:r>
              <a:t>Body Level Three</a:t>
            </a:r>
          </a:p>
          <a:p>
            <a:pPr lvl="3"/>
            <a:r>
              <a:t>Body Level Four</a:t>
            </a:r>
          </a:p>
          <a:p>
            <a:pPr lvl="4"/>
            <a:r>
              <a:t>Body Level Five</a:t>
            </a:r>
          </a:p>
        </p:txBody>
      </p:sp>
      <p:sp>
        <p:nvSpPr>
          <p:cNvPr id="75" name="Google Shape;39;p9"/>
          <p:cNvSpPr txBox="1">
            <a:spLocks noGrp="1"/>
          </p:cNvSpPr>
          <p:nvPr>
            <p:ph type="body" sz="half" idx="21"/>
          </p:nvPr>
        </p:nvSpPr>
        <p:spPr>
          <a:xfrm>
            <a:off x="4939500" y="724074"/>
            <a:ext cx="3837000" cy="3695102"/>
          </a:xfrm>
          <a:prstGeom prst="rect">
            <a:avLst/>
          </a:prstGeom>
        </p:spPr>
        <p:txBody>
          <a:bodyPr anchor="ctr"/>
          <a:lstStyle/>
          <a:p>
            <a:endParaRP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CAPTION_ONLY">
    <p:spTree>
      <p:nvGrpSpPr>
        <p:cNvPr id="1" name=""/>
        <p:cNvGrpSpPr/>
        <p:nvPr/>
      </p:nvGrpSpPr>
      <p:grpSpPr>
        <a:xfrm>
          <a:off x="0" y="0"/>
          <a:ext cx="0" cy="0"/>
          <a:chOff x="0" y="0"/>
          <a:chExt cx="0" cy="0"/>
        </a:xfrm>
      </p:grpSpPr>
      <p:sp>
        <p:nvSpPr>
          <p:cNvPr id="83" name="Body Level One…"/>
          <p:cNvSpPr txBox="1">
            <a:spLocks noGrp="1"/>
          </p:cNvSpPr>
          <p:nvPr>
            <p:ph type="body" sz="quarter" idx="1"/>
          </p:nvPr>
        </p:nvSpPr>
        <p:spPr>
          <a:xfrm>
            <a:off x="311699" y="4230575"/>
            <a:ext cx="5998802" cy="605101"/>
          </a:xfrm>
          <a:prstGeom prst="rect">
            <a:avLst/>
          </a:prstGeom>
        </p:spPr>
        <p:txBody>
          <a:bodyPr anchor="ctr"/>
          <a:lstStyle>
            <a:lvl1pPr marL="228600" indent="0">
              <a:lnSpc>
                <a:spcPct val="100000"/>
              </a:lnSpc>
              <a:buClrTx/>
              <a:buSzTx/>
              <a:buFontTx/>
              <a:buNone/>
            </a:lvl1pPr>
            <a:lvl2pPr>
              <a:lnSpc>
                <a:spcPct val="100000"/>
              </a:lnSpc>
              <a:buClrTx/>
              <a:buFontTx/>
            </a:lvl2pPr>
            <a:lvl3pPr>
              <a:lnSpc>
                <a:spcPct val="100000"/>
              </a:lnSpc>
              <a:buClrTx/>
              <a:buFontTx/>
            </a:lvl3pPr>
            <a:lvl4pPr>
              <a:lnSpc>
                <a:spcPct val="100000"/>
              </a:lnSpc>
              <a:buClrTx/>
              <a:buFontTx/>
            </a:lvl4pPr>
            <a:lvl5pPr>
              <a:lnSpc>
                <a:spcPct val="100000"/>
              </a:lnSpc>
              <a:buClrTx/>
              <a:buFontTx/>
            </a:lvl5pPr>
          </a:lstStyle>
          <a:p>
            <a:r>
              <a:t>Body Level One</a:t>
            </a:r>
          </a:p>
          <a:p>
            <a:pPr lvl="1"/>
            <a:r>
              <a:t>Body Level Two</a:t>
            </a:r>
          </a:p>
          <a:p>
            <a:pPr lvl="2"/>
            <a:r>
              <a:t>Body Level Three</a:t>
            </a:r>
          </a:p>
          <a:p>
            <a:pPr lvl="3"/>
            <a:r>
              <a:t>Body Level Four</a:t>
            </a:r>
          </a:p>
          <a:p>
            <a:pPr lvl="4"/>
            <a:r>
              <a:t>Body Level Five</a:t>
            </a:r>
          </a:p>
        </p:txBody>
      </p:sp>
      <p:sp>
        <p:nvSpPr>
          <p:cNvPr id="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BIG_NUMBER">
    <p:spTree>
      <p:nvGrpSpPr>
        <p:cNvPr id="1" name=""/>
        <p:cNvGrpSpPr/>
        <p:nvPr/>
      </p:nvGrpSpPr>
      <p:grpSpPr>
        <a:xfrm>
          <a:off x="0" y="0"/>
          <a:ext cx="0" cy="0"/>
          <a:chOff x="0" y="0"/>
          <a:chExt cx="0" cy="0"/>
        </a:xfrm>
      </p:grpSpPr>
      <p:sp>
        <p:nvSpPr>
          <p:cNvPr id="91" name="xx%"/>
          <p:cNvSpPr txBox="1">
            <a:spLocks noGrp="1"/>
          </p:cNvSpPr>
          <p:nvPr>
            <p:ph type="title" hasCustomPrompt="1"/>
          </p:nvPr>
        </p:nvSpPr>
        <p:spPr>
          <a:xfrm>
            <a:off x="311699" y="1106125"/>
            <a:ext cx="8520602" cy="1963500"/>
          </a:xfrm>
          <a:prstGeom prst="rect">
            <a:avLst/>
          </a:prstGeom>
        </p:spPr>
        <p:txBody>
          <a:bodyPr anchor="b"/>
          <a:lstStyle>
            <a:lvl1pPr algn="ctr">
              <a:defRPr sz="12000"/>
            </a:lvl1pPr>
          </a:lstStyle>
          <a:p>
            <a:r>
              <a:t>xx%</a:t>
            </a:r>
          </a:p>
        </p:txBody>
      </p:sp>
      <p:sp>
        <p:nvSpPr>
          <p:cNvPr id="92" name="Body Level One…"/>
          <p:cNvSpPr txBox="1">
            <a:spLocks noGrp="1"/>
          </p:cNvSpPr>
          <p:nvPr>
            <p:ph type="body" sz="half" idx="1"/>
          </p:nvPr>
        </p:nvSpPr>
        <p:spPr>
          <a:xfrm>
            <a:off x="311699" y="3152225"/>
            <a:ext cx="8520602" cy="1300800"/>
          </a:xfrm>
          <a:prstGeom prst="rect">
            <a:avLst/>
          </a:prstGeom>
        </p:spPr>
        <p:txBody>
          <a:bodyPr/>
          <a:lstStyle>
            <a:lvl1pPr algn="ctr"/>
            <a:lvl2pPr algn="ctr"/>
            <a:lvl3pPr algn="ctr"/>
            <a:lvl4pPr algn="ctr"/>
            <a:lvl5pPr algn="ctr"/>
          </a:lstStyle>
          <a:p>
            <a:r>
              <a:t>Body Level One</a:t>
            </a:r>
          </a:p>
          <a:p>
            <a:pPr lvl="1"/>
            <a:r>
              <a:t>Body Level Two</a:t>
            </a:r>
          </a:p>
          <a:p>
            <a:pPr lvl="2"/>
            <a:r>
              <a:t>Body Level Three</a:t>
            </a:r>
          </a:p>
          <a:p>
            <a:pPr lvl="3"/>
            <a:r>
              <a:t>Body Level Four</a:t>
            </a:r>
          </a:p>
          <a:p>
            <a:pPr lvl="4"/>
            <a:r>
              <a:t>Body Level Five</a:t>
            </a:r>
          </a:p>
        </p:txBody>
      </p:sp>
      <p:sp>
        <p:nvSpPr>
          <p:cNvPr id="9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311699" y="445025"/>
            <a:ext cx="8520602" cy="572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24" tIns="91424" rIns="91424" bIns="91424">
            <a:normAutofit/>
          </a:bodyPr>
          <a:lstStyle/>
          <a:p>
            <a:r>
              <a:t>Title Text</a:t>
            </a:r>
          </a:p>
        </p:txBody>
      </p:sp>
      <p:sp>
        <p:nvSpPr>
          <p:cNvPr id="3" name="Body Level One…"/>
          <p:cNvSpPr txBox="1">
            <a:spLocks noGrp="1"/>
          </p:cNvSpPr>
          <p:nvPr>
            <p:ph type="body" idx="1"/>
          </p:nvPr>
        </p:nvSpPr>
        <p:spPr>
          <a:xfrm>
            <a:off x="311699" y="1152475"/>
            <a:ext cx="8520602" cy="3416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24" tIns="91424" rIns="91424" bIns="91424">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8684345" y="4700819"/>
            <a:ext cx="336814" cy="318396"/>
          </a:xfrm>
          <a:prstGeom prst="rect">
            <a:avLst/>
          </a:prstGeom>
          <a:ln w="12700">
            <a:miter lim="400000"/>
          </a:ln>
        </p:spPr>
        <p:txBody>
          <a:bodyPr wrap="none" lIns="91424" tIns="91424" rIns="91424" bIns="91424" anchor="ctr">
            <a:spAutoFit/>
          </a:bodyPr>
          <a:lstStyle>
            <a:lvl1pPr algn="r">
              <a:defRPr sz="1000">
                <a:solidFill>
                  <a:schemeClr val="accent2">
                    <a:lumOff val="21764"/>
                  </a:schemeClr>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spd="med"/>
  <p:txStyles>
    <p:titleStyle>
      <a:lvl1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j-lt"/>
          <a:ea typeface="+mj-ea"/>
          <a:cs typeface="+mj-cs"/>
          <a:sym typeface="Arial"/>
        </a:defRPr>
      </a:lvl1pPr>
      <a:lvl2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j-lt"/>
          <a:ea typeface="+mj-ea"/>
          <a:cs typeface="+mj-cs"/>
          <a:sym typeface="Arial"/>
        </a:defRPr>
      </a:lvl2pPr>
      <a:lvl3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j-lt"/>
          <a:ea typeface="+mj-ea"/>
          <a:cs typeface="+mj-cs"/>
          <a:sym typeface="Arial"/>
        </a:defRPr>
      </a:lvl3pPr>
      <a:lvl4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j-lt"/>
          <a:ea typeface="+mj-ea"/>
          <a:cs typeface="+mj-cs"/>
          <a:sym typeface="Arial"/>
        </a:defRPr>
      </a:lvl4pPr>
      <a:lvl5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j-lt"/>
          <a:ea typeface="+mj-ea"/>
          <a:cs typeface="+mj-cs"/>
          <a:sym typeface="Arial"/>
        </a:defRPr>
      </a:lvl5pPr>
      <a:lvl6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j-lt"/>
          <a:ea typeface="+mj-ea"/>
          <a:cs typeface="+mj-cs"/>
          <a:sym typeface="Arial"/>
        </a:defRPr>
      </a:lvl6pPr>
      <a:lvl7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j-lt"/>
          <a:ea typeface="+mj-ea"/>
          <a:cs typeface="+mj-cs"/>
          <a:sym typeface="Arial"/>
        </a:defRPr>
      </a:lvl7pPr>
      <a:lvl8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j-lt"/>
          <a:ea typeface="+mj-ea"/>
          <a:cs typeface="+mj-cs"/>
          <a:sym typeface="Arial"/>
        </a:defRPr>
      </a:lvl8pPr>
      <a:lvl9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j-lt"/>
          <a:ea typeface="+mj-ea"/>
          <a:cs typeface="+mj-cs"/>
          <a:sym typeface="Arial"/>
        </a:defRPr>
      </a:lvl9pPr>
    </p:titleStyle>
    <p:bodyStyle>
      <a:lvl1pPr marL="457200" marR="0" indent="-342900"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1pPr>
      <a:lvl2pPr marL="10051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2pPr>
      <a:lvl3pPr marL="14623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3pPr>
      <a:lvl4pPr marL="19195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4pPr>
      <a:lvl5pPr marL="23767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5pPr>
      <a:lvl6pPr marL="28339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6pPr>
      <a:lvl7pPr marL="32911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7pPr>
      <a:lvl8pPr marL="37483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8pPr>
      <a:lvl9pPr marL="42055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9pPr>
    </p:bodyStyle>
    <p:otherStyle>
      <a:lvl1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kyle.nguyen@gatech.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hyperlink" Target="mailto:kyle.nguyen@gatech.edu"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hyperlink" Target="mailto:kyle.nguyen@gatech.edu"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Google Shape;54;p13"/>
          <p:cNvSpPr txBox="1">
            <a:spLocks noGrp="1"/>
          </p:cNvSpPr>
          <p:nvPr>
            <p:ph type="ctrTitle"/>
          </p:nvPr>
        </p:nvSpPr>
        <p:spPr>
          <a:xfrm>
            <a:off x="311707" y="744575"/>
            <a:ext cx="8520602" cy="1224389"/>
          </a:xfrm>
          <a:prstGeom prst="rect">
            <a:avLst/>
          </a:prstGeom>
        </p:spPr>
        <p:txBody>
          <a:bodyPr>
            <a:normAutofit/>
          </a:bodyPr>
          <a:lstStyle/>
          <a:p>
            <a:r>
              <a:rPr sz="4000" dirty="0"/>
              <a:t>Assignment 1 </a:t>
            </a:r>
            <a:r>
              <a:rPr lang="en-US" sz="4000" dirty="0"/>
              <a:t>Theory Problem Set</a:t>
            </a:r>
            <a:br>
              <a:rPr lang="en-US" sz="4000" dirty="0"/>
            </a:br>
            <a:r>
              <a:rPr lang="en-US" sz="2400" b="1" dirty="0">
                <a:solidFill>
                  <a:srgbClr val="FF0000"/>
                </a:solidFill>
              </a:rPr>
              <a:t>DO NOT TAG</a:t>
            </a:r>
            <a:endParaRPr sz="2400" b="1" dirty="0">
              <a:solidFill>
                <a:srgbClr val="FF0000"/>
              </a:solidFill>
            </a:endParaRPr>
          </a:p>
        </p:txBody>
      </p:sp>
      <p:sp>
        <p:nvSpPr>
          <p:cNvPr id="110" name="Google Shape;55;p13"/>
          <p:cNvSpPr txBox="1">
            <a:spLocks noGrp="1"/>
          </p:cNvSpPr>
          <p:nvPr>
            <p:ph type="subTitle" sz="quarter" idx="1"/>
          </p:nvPr>
        </p:nvSpPr>
        <p:spPr>
          <a:xfrm>
            <a:off x="311699" y="2109127"/>
            <a:ext cx="8520602" cy="640747"/>
          </a:xfrm>
          <a:prstGeom prst="rect">
            <a:avLst/>
          </a:prstGeom>
        </p:spPr>
        <p:txBody>
          <a:bodyPr>
            <a:normAutofit/>
          </a:bodyPr>
          <a:lstStyle/>
          <a:p>
            <a:pPr marL="0" indent="0" defTabSz="850391">
              <a:defRPr sz="1488"/>
            </a:pPr>
            <a:r>
              <a:rPr dirty="0"/>
              <a:t>Name:</a:t>
            </a:r>
            <a:r>
              <a:rPr lang="en-US" dirty="0"/>
              <a:t> Kyle Nguyen</a:t>
            </a:r>
            <a:endParaRPr dirty="0"/>
          </a:p>
          <a:p>
            <a:pPr marL="0" indent="0" defTabSz="850391">
              <a:defRPr sz="1488"/>
            </a:pPr>
            <a:r>
              <a:rPr dirty="0"/>
              <a:t>GT Email:</a:t>
            </a:r>
            <a:r>
              <a:rPr lang="en-US" dirty="0"/>
              <a:t> </a:t>
            </a:r>
            <a:r>
              <a:rPr lang="en-US" dirty="0">
                <a:hlinkClick r:id="rId2"/>
              </a:rPr>
              <a:t>kyle.nguyen@gatech.edu</a:t>
            </a:r>
            <a:r>
              <a:rPr lang="en-US" dirty="0"/>
              <a:t> </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D2077-B5EE-B04A-8D24-5E8AC62A58D7}"/>
              </a:ext>
            </a:extLst>
          </p:cNvPr>
          <p:cNvSpPr>
            <a:spLocks noGrp="1"/>
          </p:cNvSpPr>
          <p:nvPr>
            <p:ph type="title"/>
          </p:nvPr>
        </p:nvSpPr>
        <p:spPr>
          <a:xfrm>
            <a:off x="106791" y="66745"/>
            <a:ext cx="8970464" cy="4952443"/>
          </a:xfrm>
        </p:spPr>
        <p:txBody>
          <a:bodyPr>
            <a:normAutofit/>
          </a:bodyPr>
          <a:lstStyle/>
          <a:p>
            <a:r>
              <a:rPr lang="en-US" sz="1200" dirty="0"/>
              <a:t>Theory PS Q1. Feel free to add extra slides if needed.</a:t>
            </a:r>
          </a:p>
        </p:txBody>
      </p:sp>
    </p:spTree>
    <p:extLst>
      <p:ext uri="{BB962C8B-B14F-4D97-AF65-F5344CB8AC3E}">
        <p14:creationId xmlns:p14="http://schemas.microsoft.com/office/powerpoint/2010/main" val="3669776865"/>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D2077-B5EE-B04A-8D24-5E8AC62A58D7}"/>
              </a:ext>
            </a:extLst>
          </p:cNvPr>
          <p:cNvSpPr>
            <a:spLocks noGrp="1"/>
          </p:cNvSpPr>
          <p:nvPr>
            <p:ph type="title"/>
          </p:nvPr>
        </p:nvSpPr>
        <p:spPr>
          <a:xfrm>
            <a:off x="106791" y="66745"/>
            <a:ext cx="8970464" cy="4952443"/>
          </a:xfrm>
        </p:spPr>
        <p:txBody>
          <a:bodyPr>
            <a:normAutofit/>
          </a:bodyPr>
          <a:lstStyle/>
          <a:p>
            <a:r>
              <a:rPr lang="en-US" sz="1200" dirty="0"/>
              <a:t>Theory PS Q2. Feel free to add extra slides if needed.</a:t>
            </a:r>
          </a:p>
        </p:txBody>
      </p:sp>
    </p:spTree>
    <p:extLst>
      <p:ext uri="{BB962C8B-B14F-4D97-AF65-F5344CB8AC3E}">
        <p14:creationId xmlns:p14="http://schemas.microsoft.com/office/powerpoint/2010/main" val="277122809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D2077-B5EE-B04A-8D24-5E8AC62A58D7}"/>
              </a:ext>
            </a:extLst>
          </p:cNvPr>
          <p:cNvSpPr>
            <a:spLocks noGrp="1"/>
          </p:cNvSpPr>
          <p:nvPr>
            <p:ph type="title"/>
          </p:nvPr>
        </p:nvSpPr>
        <p:spPr>
          <a:xfrm>
            <a:off x="106791" y="66745"/>
            <a:ext cx="8970464" cy="4952443"/>
          </a:xfrm>
        </p:spPr>
        <p:txBody>
          <a:bodyPr>
            <a:normAutofit/>
          </a:bodyPr>
          <a:lstStyle/>
          <a:p>
            <a:r>
              <a:rPr lang="en-US" sz="1200" dirty="0"/>
              <a:t>Theory PS Q3. Feel free to add extra slides if needed.</a:t>
            </a:r>
          </a:p>
        </p:txBody>
      </p:sp>
    </p:spTree>
    <p:extLst>
      <p:ext uri="{BB962C8B-B14F-4D97-AF65-F5344CB8AC3E}">
        <p14:creationId xmlns:p14="http://schemas.microsoft.com/office/powerpoint/2010/main" val="365508392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Google Shape;54;p13"/>
          <p:cNvSpPr txBox="1">
            <a:spLocks noGrp="1"/>
          </p:cNvSpPr>
          <p:nvPr>
            <p:ph type="ctrTitle"/>
          </p:nvPr>
        </p:nvSpPr>
        <p:spPr>
          <a:xfrm>
            <a:off x="311707" y="744575"/>
            <a:ext cx="8520602" cy="1224389"/>
          </a:xfrm>
          <a:prstGeom prst="rect">
            <a:avLst/>
          </a:prstGeom>
        </p:spPr>
        <p:txBody>
          <a:bodyPr>
            <a:normAutofit/>
          </a:bodyPr>
          <a:lstStyle/>
          <a:p>
            <a:r>
              <a:rPr sz="4000" dirty="0"/>
              <a:t>Assignment 1 </a:t>
            </a:r>
            <a:r>
              <a:rPr lang="en-US" sz="4000" dirty="0"/>
              <a:t>Paper Review</a:t>
            </a:r>
            <a:br>
              <a:rPr lang="en-US" sz="4000" dirty="0"/>
            </a:br>
            <a:r>
              <a:rPr lang="en-US" sz="2400" b="1" dirty="0">
                <a:solidFill>
                  <a:srgbClr val="FF0000"/>
                </a:solidFill>
              </a:rPr>
              <a:t>DO NOT TAG</a:t>
            </a:r>
            <a:endParaRPr sz="2400" b="1" dirty="0">
              <a:solidFill>
                <a:srgbClr val="FF0000"/>
              </a:solidFill>
            </a:endParaRPr>
          </a:p>
        </p:txBody>
      </p:sp>
      <p:sp>
        <p:nvSpPr>
          <p:cNvPr id="110" name="Google Shape;55;p13"/>
          <p:cNvSpPr txBox="1">
            <a:spLocks noGrp="1"/>
          </p:cNvSpPr>
          <p:nvPr>
            <p:ph type="subTitle" sz="quarter" idx="1"/>
          </p:nvPr>
        </p:nvSpPr>
        <p:spPr>
          <a:xfrm>
            <a:off x="311699" y="2109127"/>
            <a:ext cx="8520602" cy="640747"/>
          </a:xfrm>
          <a:prstGeom prst="rect">
            <a:avLst/>
          </a:prstGeom>
        </p:spPr>
        <p:txBody>
          <a:bodyPr>
            <a:normAutofit/>
          </a:bodyPr>
          <a:lstStyle/>
          <a:p>
            <a:pPr marL="0" indent="0" defTabSz="850391">
              <a:defRPr sz="1488"/>
            </a:pPr>
            <a:r>
              <a:rPr lang="en-SG" dirty="0"/>
              <a:t>Name: Kyle Nguyen</a:t>
            </a:r>
          </a:p>
          <a:p>
            <a:pPr marL="0" indent="0" defTabSz="850391">
              <a:defRPr sz="1488"/>
            </a:pPr>
            <a:r>
              <a:rPr lang="en-SG" dirty="0"/>
              <a:t>GT Email: </a:t>
            </a:r>
            <a:r>
              <a:rPr lang="en-SG" dirty="0">
                <a:hlinkClick r:id="rId2"/>
              </a:rPr>
              <a:t>kyle.nguyen@gatech.edu</a:t>
            </a:r>
            <a:r>
              <a:rPr lang="en-SG" dirty="0"/>
              <a:t> </a:t>
            </a:r>
          </a:p>
        </p:txBody>
      </p:sp>
    </p:spTree>
    <p:extLst>
      <p:ext uri="{BB962C8B-B14F-4D97-AF65-F5344CB8AC3E}">
        <p14:creationId xmlns:p14="http://schemas.microsoft.com/office/powerpoint/2010/main" val="413886657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D2077-B5EE-B04A-8D24-5E8AC62A58D7}"/>
              </a:ext>
            </a:extLst>
          </p:cNvPr>
          <p:cNvSpPr>
            <a:spLocks noGrp="1"/>
          </p:cNvSpPr>
          <p:nvPr>
            <p:ph type="title"/>
          </p:nvPr>
        </p:nvSpPr>
        <p:spPr>
          <a:xfrm>
            <a:off x="106791" y="66745"/>
            <a:ext cx="8970464" cy="4952443"/>
          </a:xfrm>
        </p:spPr>
        <p:txBody>
          <a:bodyPr>
            <a:normAutofit/>
          </a:bodyPr>
          <a:lstStyle/>
          <a:p>
            <a:r>
              <a:rPr lang="en-US" sz="1200" dirty="0"/>
              <a:t>Provide a short preview of the paper of your choice.</a:t>
            </a:r>
          </a:p>
        </p:txBody>
      </p:sp>
    </p:spTree>
    <p:extLst>
      <p:ext uri="{BB962C8B-B14F-4D97-AF65-F5344CB8AC3E}">
        <p14:creationId xmlns:p14="http://schemas.microsoft.com/office/powerpoint/2010/main" val="298382879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D2077-B5EE-B04A-8D24-5E8AC62A58D7}"/>
              </a:ext>
            </a:extLst>
          </p:cNvPr>
          <p:cNvSpPr>
            <a:spLocks noGrp="1"/>
          </p:cNvSpPr>
          <p:nvPr>
            <p:ph type="title"/>
          </p:nvPr>
        </p:nvSpPr>
        <p:spPr>
          <a:xfrm>
            <a:off x="106791" y="66745"/>
            <a:ext cx="8970464" cy="4952443"/>
          </a:xfrm>
        </p:spPr>
        <p:txBody>
          <a:bodyPr>
            <a:normAutofit/>
          </a:bodyPr>
          <a:lstStyle/>
          <a:p>
            <a:r>
              <a:rPr lang="en-US" sz="1200" dirty="0"/>
              <a:t>Paper specific Q1. Feel free to add extra slides if needed.</a:t>
            </a:r>
          </a:p>
        </p:txBody>
      </p:sp>
    </p:spTree>
    <p:extLst>
      <p:ext uri="{BB962C8B-B14F-4D97-AF65-F5344CB8AC3E}">
        <p14:creationId xmlns:p14="http://schemas.microsoft.com/office/powerpoint/2010/main" val="214496482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D2077-B5EE-B04A-8D24-5E8AC62A58D7}"/>
              </a:ext>
            </a:extLst>
          </p:cNvPr>
          <p:cNvSpPr>
            <a:spLocks noGrp="1"/>
          </p:cNvSpPr>
          <p:nvPr>
            <p:ph type="title"/>
          </p:nvPr>
        </p:nvSpPr>
        <p:spPr>
          <a:xfrm>
            <a:off x="106791" y="66745"/>
            <a:ext cx="8970464" cy="4952443"/>
          </a:xfrm>
        </p:spPr>
        <p:txBody>
          <a:bodyPr>
            <a:normAutofit/>
          </a:bodyPr>
          <a:lstStyle/>
          <a:p>
            <a:r>
              <a:rPr lang="en-US" sz="1200" dirty="0"/>
              <a:t>Paper specific Q2. Feel free to add extra slides if needed.</a:t>
            </a:r>
          </a:p>
        </p:txBody>
      </p:sp>
      <p:sp>
        <p:nvSpPr>
          <p:cNvPr id="3" name="TextBox 2">
            <a:extLst>
              <a:ext uri="{FF2B5EF4-FFF2-40B4-BE49-F238E27FC236}">
                <a16:creationId xmlns:a16="http://schemas.microsoft.com/office/drawing/2014/main" id="{6185D7DF-E660-306D-862D-FB5A23053627}"/>
              </a:ext>
            </a:extLst>
          </p:cNvPr>
          <p:cNvSpPr txBox="1"/>
          <p:nvPr/>
        </p:nvSpPr>
        <p:spPr>
          <a:xfrm>
            <a:off x="874643" y="254442"/>
            <a:ext cx="65"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400" b="0" i="0" u="none" strike="noStrike" cap="none" spc="0" normalizeH="0" baseline="0" dirty="0">
              <a:ln>
                <a:noFill/>
              </a:ln>
              <a:solidFill>
                <a:srgbClr val="000000"/>
              </a:solidFill>
              <a:effectLst/>
              <a:uFillTx/>
              <a:latin typeface="+mj-lt"/>
              <a:ea typeface="+mj-ea"/>
              <a:cs typeface="+mj-cs"/>
              <a:sym typeface="Arial"/>
            </a:endParaRPr>
          </a:p>
        </p:txBody>
      </p:sp>
    </p:spTree>
    <p:extLst>
      <p:ext uri="{BB962C8B-B14F-4D97-AF65-F5344CB8AC3E}">
        <p14:creationId xmlns:p14="http://schemas.microsoft.com/office/powerpoint/2010/main" val="162318642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Google Shape;54;p13"/>
          <p:cNvSpPr txBox="1">
            <a:spLocks noGrp="1"/>
          </p:cNvSpPr>
          <p:nvPr>
            <p:ph type="ctrTitle"/>
          </p:nvPr>
        </p:nvSpPr>
        <p:spPr>
          <a:xfrm>
            <a:off x="311707" y="744575"/>
            <a:ext cx="8520602" cy="2052599"/>
          </a:xfrm>
          <a:prstGeom prst="rect">
            <a:avLst/>
          </a:prstGeom>
        </p:spPr>
        <p:txBody>
          <a:bodyPr/>
          <a:lstStyle/>
          <a:p>
            <a:r>
              <a:rPr dirty="0"/>
              <a:t>Assignment 1 Writeup</a:t>
            </a:r>
            <a:br>
              <a:rPr lang="en-US" dirty="0"/>
            </a:br>
            <a:r>
              <a:rPr lang="en-US" sz="2400" b="1" dirty="0">
                <a:solidFill>
                  <a:srgbClr val="FF0000"/>
                </a:solidFill>
              </a:rPr>
              <a:t>DO NOT TAG</a:t>
            </a:r>
            <a:endParaRPr sz="2400" b="1" dirty="0">
              <a:solidFill>
                <a:srgbClr val="FF0000"/>
              </a:solidFill>
            </a:endParaRPr>
          </a:p>
        </p:txBody>
      </p:sp>
      <p:sp>
        <p:nvSpPr>
          <p:cNvPr id="110" name="Google Shape;55;p13"/>
          <p:cNvSpPr txBox="1">
            <a:spLocks noGrp="1"/>
          </p:cNvSpPr>
          <p:nvPr>
            <p:ph type="subTitle" sz="quarter" idx="1"/>
          </p:nvPr>
        </p:nvSpPr>
        <p:spPr>
          <a:xfrm>
            <a:off x="311699" y="2834125"/>
            <a:ext cx="8520602" cy="792601"/>
          </a:xfrm>
          <a:prstGeom prst="rect">
            <a:avLst/>
          </a:prstGeom>
        </p:spPr>
        <p:txBody>
          <a:bodyPr>
            <a:normAutofit/>
          </a:bodyPr>
          <a:lstStyle/>
          <a:p>
            <a:pPr marL="0" indent="0" defTabSz="850391">
              <a:defRPr sz="1488"/>
            </a:pPr>
            <a:r>
              <a:rPr lang="en-SG" dirty="0"/>
              <a:t>Name: Kyle Nguyen</a:t>
            </a:r>
          </a:p>
          <a:p>
            <a:pPr marL="0" indent="0" defTabSz="850391">
              <a:defRPr sz="1488"/>
            </a:pPr>
            <a:r>
              <a:rPr lang="en-SG" dirty="0"/>
              <a:t>GT Email: </a:t>
            </a:r>
            <a:r>
              <a:rPr lang="en-SG" dirty="0">
                <a:hlinkClick r:id="rId2"/>
              </a:rPr>
              <a:t>kyle.nguyen@gatech.edu</a:t>
            </a:r>
            <a:r>
              <a:rPr lang="en-SG" dirty="0"/>
              <a:t> </a:t>
            </a:r>
          </a:p>
        </p:txBody>
      </p:sp>
    </p:spTree>
    <p:extLst>
      <p:ext uri="{BB962C8B-B14F-4D97-AF65-F5344CB8AC3E}">
        <p14:creationId xmlns:p14="http://schemas.microsoft.com/office/powerpoint/2010/main" val="72635478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Google Shape;60;p14"/>
          <p:cNvSpPr txBox="1"/>
          <p:nvPr/>
        </p:nvSpPr>
        <p:spPr>
          <a:xfrm>
            <a:off x="636449" y="1909349"/>
            <a:ext cx="7871102" cy="12926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24" tIns="91424" rIns="91424" bIns="91424">
            <a:spAutoFit/>
          </a:bodyPr>
          <a:lstStyle>
            <a:lvl1pPr>
              <a:defRPr sz="4800"/>
            </a:lvl1pPr>
          </a:lstStyle>
          <a:p>
            <a:r>
              <a:rPr dirty="0"/>
              <a:t>Two-Layer Neural Network</a:t>
            </a:r>
            <a:endParaRPr lang="en-US" dirty="0"/>
          </a:p>
          <a:p>
            <a:pPr algn="ctr"/>
            <a:r>
              <a:rPr lang="en-US" sz="2400" b="1" dirty="0">
                <a:solidFill>
                  <a:srgbClr val="FF0000"/>
                </a:solidFill>
              </a:rPr>
              <a:t>DO NOT TAG</a:t>
            </a:r>
            <a:endParaRPr sz="2400" b="1" dirty="0">
              <a:solidFill>
                <a:srgbClr val="FF0000"/>
              </a:solidFill>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Google Shape;65;p15"/>
          <p:cNvSpPr txBox="1">
            <a:spLocks noGrp="1"/>
          </p:cNvSpPr>
          <p:nvPr>
            <p:ph type="title"/>
          </p:nvPr>
        </p:nvSpPr>
        <p:spPr>
          <a:xfrm>
            <a:off x="311699" y="445025"/>
            <a:ext cx="8520602" cy="572701"/>
          </a:xfrm>
          <a:prstGeom prst="rect">
            <a:avLst/>
          </a:prstGeom>
        </p:spPr>
        <p:txBody>
          <a:bodyPr>
            <a:normAutofit fontScale="90000"/>
          </a:bodyPr>
          <a:lstStyle>
            <a:lvl1pPr marL="438911" indent="-390143" defTabSz="877823">
              <a:buClr>
                <a:srgbClr val="000000"/>
              </a:buClr>
              <a:buSzPts val="2600"/>
              <a:buAutoNum type="arabicPeriod"/>
              <a:defRPr sz="2688"/>
            </a:lvl1pPr>
          </a:lstStyle>
          <a:p>
            <a:r>
              <a:rPr dirty="0"/>
              <a:t>Learning Rates</a:t>
            </a:r>
          </a:p>
        </p:txBody>
      </p:sp>
      <p:sp>
        <p:nvSpPr>
          <p:cNvPr id="115" name="Google Shape;66;p15"/>
          <p:cNvSpPr txBox="1">
            <a:spLocks noGrp="1"/>
          </p:cNvSpPr>
          <p:nvPr>
            <p:ph type="body" idx="1"/>
          </p:nvPr>
        </p:nvSpPr>
        <p:spPr>
          <a:xfrm>
            <a:off x="311699" y="1152475"/>
            <a:ext cx="8520602" cy="3416400"/>
          </a:xfrm>
          <a:prstGeom prst="rect">
            <a:avLst/>
          </a:prstGeom>
        </p:spPr>
        <p:txBody>
          <a:bodyPr/>
          <a:lstStyle>
            <a:lvl1pPr marL="0" indent="0">
              <a:buSzTx/>
              <a:buNone/>
            </a:lvl1pPr>
          </a:lstStyle>
          <a:p>
            <a:r>
              <a:rPr dirty="0"/>
              <a:t>Tune the learning rate of the model with all other default hyper-parameters fixed. Fill in the table below:</a:t>
            </a:r>
          </a:p>
        </p:txBody>
      </p:sp>
      <p:graphicFrame>
        <p:nvGraphicFramePr>
          <p:cNvPr id="116" name="Google Shape;67;p15"/>
          <p:cNvGraphicFramePr/>
          <p:nvPr>
            <p:extLst>
              <p:ext uri="{D42A27DB-BD31-4B8C-83A1-F6EECF244321}">
                <p14:modId xmlns:p14="http://schemas.microsoft.com/office/powerpoint/2010/main" val="1733423322"/>
              </p:ext>
            </p:extLst>
          </p:nvPr>
        </p:nvGraphicFramePr>
        <p:xfrm>
          <a:off x="1216174" y="2367750"/>
          <a:ext cx="5170745" cy="1615350"/>
        </p:xfrm>
        <a:graphic>
          <a:graphicData uri="http://schemas.openxmlformats.org/drawingml/2006/table">
            <a:tbl>
              <a:tblPr>
                <a:tableStyleId>{4C3C2611-4C71-4FC5-86AE-919BDF0F9419}</a:tableStyleId>
              </a:tblPr>
              <a:tblGrid>
                <a:gridCol w="1034149">
                  <a:extLst>
                    <a:ext uri="{9D8B030D-6E8A-4147-A177-3AD203B41FA5}">
                      <a16:colId xmlns:a16="http://schemas.microsoft.com/office/drawing/2014/main" val="20000"/>
                    </a:ext>
                  </a:extLst>
                </a:gridCol>
                <a:gridCol w="1034149">
                  <a:extLst>
                    <a:ext uri="{9D8B030D-6E8A-4147-A177-3AD203B41FA5}">
                      <a16:colId xmlns:a16="http://schemas.microsoft.com/office/drawing/2014/main" val="20001"/>
                    </a:ext>
                  </a:extLst>
                </a:gridCol>
                <a:gridCol w="1034149">
                  <a:extLst>
                    <a:ext uri="{9D8B030D-6E8A-4147-A177-3AD203B41FA5}">
                      <a16:colId xmlns:a16="http://schemas.microsoft.com/office/drawing/2014/main" val="20002"/>
                    </a:ext>
                  </a:extLst>
                </a:gridCol>
                <a:gridCol w="1034149">
                  <a:extLst>
                    <a:ext uri="{9D8B030D-6E8A-4147-A177-3AD203B41FA5}">
                      <a16:colId xmlns:a16="http://schemas.microsoft.com/office/drawing/2014/main" val="20003"/>
                    </a:ext>
                  </a:extLst>
                </a:gridCol>
                <a:gridCol w="1034149">
                  <a:extLst>
                    <a:ext uri="{9D8B030D-6E8A-4147-A177-3AD203B41FA5}">
                      <a16:colId xmlns:a16="http://schemas.microsoft.com/office/drawing/2014/main" val="20004"/>
                    </a:ext>
                  </a:extLst>
                </a:gridCol>
              </a:tblGrid>
              <a:tr h="381000">
                <a:tc>
                  <a:txBody>
                    <a:bodyPr/>
                    <a:lstStyle/>
                    <a:p>
                      <a:pPr algn="l">
                        <a:defRPr sz="1400"/>
                      </a:pPr>
                      <a:endParaRPr/>
                    </a:p>
                  </a:txBody>
                  <a:tcPr marL="91425" marR="91425" marT="91425" marB="91425" horzOverflow="overflow"/>
                </a:tc>
                <a:tc>
                  <a:txBody>
                    <a:bodyPr/>
                    <a:lstStyle/>
                    <a:p>
                      <a:pPr algn="l">
                        <a:defRPr sz="1800"/>
                      </a:pPr>
                      <a:r>
                        <a:rPr sz="1400"/>
                        <a:t>lr=1</a:t>
                      </a:r>
                    </a:p>
                  </a:txBody>
                  <a:tcPr marL="91425" marR="91425" marT="91425" marB="91425" horzOverflow="overflow"/>
                </a:tc>
                <a:tc>
                  <a:txBody>
                    <a:bodyPr/>
                    <a:lstStyle/>
                    <a:p>
                      <a:pPr algn="l">
                        <a:defRPr sz="1800"/>
                      </a:pPr>
                      <a:r>
                        <a:rPr sz="1400"/>
                        <a:t>lr=1e-1</a:t>
                      </a:r>
                    </a:p>
                  </a:txBody>
                  <a:tcPr marL="91425" marR="91425" marT="91425" marB="91425" horzOverflow="overflow"/>
                </a:tc>
                <a:tc>
                  <a:txBody>
                    <a:bodyPr/>
                    <a:lstStyle/>
                    <a:p>
                      <a:pPr algn="l">
                        <a:defRPr sz="1800"/>
                      </a:pPr>
                      <a:r>
                        <a:rPr sz="1400" dirty="0" err="1"/>
                        <a:t>lr</a:t>
                      </a:r>
                      <a:r>
                        <a:rPr sz="1400" dirty="0"/>
                        <a:t>=</a:t>
                      </a:r>
                      <a:r>
                        <a:rPr lang="en-US" sz="1400" dirty="0"/>
                        <a:t>5</a:t>
                      </a:r>
                      <a:r>
                        <a:rPr sz="1400" dirty="0"/>
                        <a:t>e-2</a:t>
                      </a:r>
                    </a:p>
                  </a:txBody>
                  <a:tcPr marL="91425" marR="91425" marT="91425" marB="91425" horzOverflow="overflow"/>
                </a:tc>
                <a:tc>
                  <a:txBody>
                    <a:bodyPr/>
                    <a:lstStyle/>
                    <a:p>
                      <a:pPr algn="l">
                        <a:defRPr sz="1800"/>
                      </a:pPr>
                      <a:r>
                        <a:rPr sz="1400" dirty="0" err="1"/>
                        <a:t>lr</a:t>
                      </a:r>
                      <a:r>
                        <a:rPr sz="1400" dirty="0"/>
                        <a:t>=</a:t>
                      </a:r>
                      <a:r>
                        <a:rPr lang="en-US" sz="1400" dirty="0"/>
                        <a:t>1</a:t>
                      </a:r>
                      <a:r>
                        <a:rPr sz="1400" dirty="0"/>
                        <a:t>e-2</a:t>
                      </a:r>
                    </a:p>
                  </a:txBody>
                  <a:tcPr marL="91425" marR="91425" marT="91425" marB="91425" horzOverflow="overflow"/>
                </a:tc>
                <a:extLst>
                  <a:ext uri="{0D108BD9-81ED-4DB2-BD59-A6C34878D82A}">
                    <a16:rowId xmlns:a16="http://schemas.microsoft.com/office/drawing/2014/main" val="10000"/>
                  </a:ext>
                </a:extLst>
              </a:tr>
              <a:tr h="381000">
                <a:tc>
                  <a:txBody>
                    <a:bodyPr/>
                    <a:lstStyle/>
                    <a:p>
                      <a:pPr algn="l">
                        <a:defRPr sz="1800"/>
                      </a:pPr>
                      <a:r>
                        <a:rPr sz="1400"/>
                        <a:t>Training Accuracy</a:t>
                      </a: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extLst>
                  <a:ext uri="{0D108BD9-81ED-4DB2-BD59-A6C34878D82A}">
                    <a16:rowId xmlns:a16="http://schemas.microsoft.com/office/drawing/2014/main" val="10001"/>
                  </a:ext>
                </a:extLst>
              </a:tr>
              <a:tr h="381000">
                <a:tc>
                  <a:txBody>
                    <a:bodyPr/>
                    <a:lstStyle/>
                    <a:p>
                      <a:pPr algn="l">
                        <a:defRPr sz="1800"/>
                      </a:pPr>
                      <a:r>
                        <a:rPr sz="1400"/>
                        <a:t>Test Accuracy</a:t>
                      </a: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dirty="0"/>
                    </a:p>
                  </a:txBody>
                  <a:tcPr marL="91425" marR="91425" marT="91425" marB="91425" horzOverflow="overflow"/>
                </a:tc>
                <a:extLst>
                  <a:ext uri="{0D108BD9-81ED-4DB2-BD59-A6C34878D82A}">
                    <a16:rowId xmlns:a16="http://schemas.microsoft.com/office/drawing/2014/main" val="10002"/>
                  </a:ext>
                </a:extLst>
              </a:tr>
            </a:tbl>
          </a:graphicData>
        </a:graphic>
      </p:graphicFrame>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Google Shape;72;p16"/>
          <p:cNvSpPr txBox="1">
            <a:spLocks noGrp="1"/>
          </p:cNvSpPr>
          <p:nvPr>
            <p:ph type="title"/>
          </p:nvPr>
        </p:nvSpPr>
        <p:spPr>
          <a:xfrm>
            <a:off x="311699" y="445025"/>
            <a:ext cx="8520602" cy="572701"/>
          </a:xfrm>
          <a:prstGeom prst="rect">
            <a:avLst/>
          </a:prstGeom>
        </p:spPr>
        <p:txBody>
          <a:bodyPr>
            <a:normAutofit fontScale="90000"/>
          </a:bodyPr>
          <a:lstStyle>
            <a:lvl1pPr marL="438911" indent="-390143" defTabSz="877823">
              <a:buClr>
                <a:srgbClr val="000000"/>
              </a:buClr>
              <a:buSzPts val="2600"/>
              <a:buAutoNum type="arabicPeriod"/>
              <a:defRPr sz="2688"/>
            </a:lvl1pPr>
          </a:lstStyle>
          <a:p>
            <a:r>
              <a:t>Learning Curve</a:t>
            </a:r>
          </a:p>
        </p:txBody>
      </p:sp>
      <p:sp>
        <p:nvSpPr>
          <p:cNvPr id="119" name="Google Shape;73;p16"/>
          <p:cNvSpPr txBox="1">
            <a:spLocks noGrp="1"/>
          </p:cNvSpPr>
          <p:nvPr>
            <p:ph type="body" idx="1"/>
          </p:nvPr>
        </p:nvSpPr>
        <p:spPr>
          <a:xfrm>
            <a:off x="311699" y="1152475"/>
            <a:ext cx="8520602" cy="3416400"/>
          </a:xfrm>
          <a:prstGeom prst="rect">
            <a:avLst/>
          </a:prstGeom>
        </p:spPr>
        <p:txBody>
          <a:bodyPr/>
          <a:lstStyle>
            <a:lvl1pPr marL="0" indent="0">
              <a:buSzTx/>
              <a:buNone/>
            </a:lvl1pPr>
          </a:lstStyle>
          <a:p>
            <a:r>
              <a:rPr dirty="0"/>
              <a:t>Plot the learning curves</a:t>
            </a:r>
            <a:r>
              <a:rPr lang="en-US" dirty="0"/>
              <a:t> using the learning rates from the previous slide</a:t>
            </a:r>
            <a:r>
              <a:rPr dirty="0"/>
              <a:t> and put </a:t>
            </a:r>
            <a:r>
              <a:rPr lang="en-US" dirty="0"/>
              <a:t>them</a:t>
            </a:r>
            <a:r>
              <a:rPr dirty="0"/>
              <a:t> below</a:t>
            </a:r>
            <a:r>
              <a:rPr lang="en-US" dirty="0"/>
              <a:t> (you may add additional slides if needed).</a:t>
            </a:r>
            <a:endParaRPr dirty="0"/>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78;p17"/>
          <p:cNvSpPr txBox="1">
            <a:spLocks noGrp="1"/>
          </p:cNvSpPr>
          <p:nvPr>
            <p:ph type="title"/>
          </p:nvPr>
        </p:nvSpPr>
        <p:spPr>
          <a:xfrm>
            <a:off x="311699" y="445025"/>
            <a:ext cx="8520602" cy="572701"/>
          </a:xfrm>
          <a:prstGeom prst="rect">
            <a:avLst/>
          </a:prstGeom>
        </p:spPr>
        <p:txBody>
          <a:bodyPr>
            <a:normAutofit fontScale="90000"/>
          </a:bodyPr>
          <a:lstStyle>
            <a:lvl1pPr marL="438911" indent="-390143" defTabSz="877823">
              <a:buClr>
                <a:srgbClr val="000000"/>
              </a:buClr>
              <a:buSzPts val="2600"/>
              <a:buAutoNum type="arabicPeriod"/>
              <a:defRPr sz="2688"/>
            </a:lvl1pPr>
          </a:lstStyle>
          <a:p>
            <a:r>
              <a:t>Learning Rates</a:t>
            </a:r>
          </a:p>
        </p:txBody>
      </p:sp>
      <p:sp>
        <p:nvSpPr>
          <p:cNvPr id="122" name="Google Shape;79;p17"/>
          <p:cNvSpPr txBox="1">
            <a:spLocks noGrp="1"/>
          </p:cNvSpPr>
          <p:nvPr>
            <p:ph type="body" idx="1"/>
          </p:nvPr>
        </p:nvSpPr>
        <p:spPr>
          <a:xfrm>
            <a:off x="311699" y="1152475"/>
            <a:ext cx="8520602" cy="3416400"/>
          </a:xfrm>
          <a:prstGeom prst="rect">
            <a:avLst/>
          </a:prstGeom>
        </p:spPr>
        <p:txBody>
          <a:bodyPr/>
          <a:lstStyle>
            <a:lvl1pPr marL="0" indent="0">
              <a:spcBef>
                <a:spcPts val="1600"/>
              </a:spcBef>
              <a:buSzTx/>
              <a:buNone/>
            </a:lvl1pPr>
          </a:lstStyle>
          <a:p>
            <a:r>
              <a:rPr dirty="0"/>
              <a:t>Describe and Explain your findings:</a:t>
            </a:r>
            <a:r>
              <a:rPr lang="en-US" dirty="0"/>
              <a:t> </a:t>
            </a:r>
            <a:r>
              <a:rPr lang="en-US" sz="1100" i="1" dirty="0">
                <a:solidFill>
                  <a:srgbClr val="0070C0"/>
                </a:solidFill>
              </a:rPr>
              <a:t>Explanation should go into </a:t>
            </a:r>
            <a:r>
              <a:rPr lang="en-US" sz="1100" b="1" i="1" dirty="0">
                <a:solidFill>
                  <a:srgbClr val="0070C0"/>
                </a:solidFill>
              </a:rPr>
              <a:t>WHY</a:t>
            </a:r>
            <a:r>
              <a:rPr lang="en-US" sz="1100" i="1" dirty="0">
                <a:solidFill>
                  <a:srgbClr val="0070C0"/>
                </a:solidFill>
              </a:rPr>
              <a:t> things work the way they do in the context of Machine Learning theory/intuition, along with justification for your experimentation methodology. </a:t>
            </a:r>
            <a:r>
              <a:rPr lang="en-US" sz="1100" b="1" i="1" dirty="0">
                <a:solidFill>
                  <a:srgbClr val="0070C0"/>
                </a:solidFill>
              </a:rPr>
              <a:t>DO NOT </a:t>
            </a:r>
            <a:r>
              <a:rPr lang="en-US" sz="1100" i="1" dirty="0">
                <a:solidFill>
                  <a:srgbClr val="0070C0"/>
                </a:solidFill>
              </a:rPr>
              <a:t>just describe the results, for example, you should explain why the learning rate has the observed effect. Also, be cognizant of the best way to organize and show the results that best emphasizes your key observations. If you need more than one slide to answer the question, you are free to create new slides.</a:t>
            </a:r>
            <a:br>
              <a:rPr lang="en-US" sz="1100" i="1" dirty="0">
                <a:solidFill>
                  <a:srgbClr val="0070C0"/>
                </a:solidFill>
              </a:rPr>
            </a:br>
            <a:endParaRPr sz="1100" i="1" dirty="0">
              <a:solidFill>
                <a:srgbClr val="0070C0"/>
              </a:solidFill>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Google Shape;84;p18"/>
          <p:cNvSpPr txBox="1">
            <a:spLocks noGrp="1"/>
          </p:cNvSpPr>
          <p:nvPr>
            <p:ph type="title"/>
          </p:nvPr>
        </p:nvSpPr>
        <p:spPr>
          <a:xfrm>
            <a:off x="311699" y="445025"/>
            <a:ext cx="8520602" cy="572701"/>
          </a:xfrm>
          <a:prstGeom prst="rect">
            <a:avLst/>
          </a:prstGeom>
        </p:spPr>
        <p:txBody>
          <a:bodyPr>
            <a:normAutofit fontScale="90000"/>
          </a:bodyPr>
          <a:lstStyle>
            <a:lvl1pPr defTabSz="877823">
              <a:defRPr sz="2688"/>
            </a:lvl1pPr>
          </a:lstStyle>
          <a:p>
            <a:r>
              <a:rPr dirty="0"/>
              <a:t>2. Regularization</a:t>
            </a:r>
          </a:p>
        </p:txBody>
      </p:sp>
      <p:sp>
        <p:nvSpPr>
          <p:cNvPr id="125" name="Google Shape;85;p18"/>
          <p:cNvSpPr txBox="1">
            <a:spLocks noGrp="1"/>
          </p:cNvSpPr>
          <p:nvPr>
            <p:ph type="body" idx="1"/>
          </p:nvPr>
        </p:nvSpPr>
        <p:spPr>
          <a:xfrm>
            <a:off x="311699" y="1152475"/>
            <a:ext cx="8520602" cy="867187"/>
          </a:xfrm>
          <a:prstGeom prst="rect">
            <a:avLst/>
          </a:prstGeom>
        </p:spPr>
        <p:txBody>
          <a:bodyPr/>
          <a:lstStyle>
            <a:lvl1pPr marL="0" indent="0">
              <a:spcBef>
                <a:spcPts val="1600"/>
              </a:spcBef>
              <a:buSzTx/>
              <a:buNone/>
            </a:lvl1pPr>
          </a:lstStyle>
          <a:p>
            <a:r>
              <a:rPr dirty="0"/>
              <a:t>Tune the regularization coefficient of the model with all other default hyper-parameters fixed. Fill in the table below:</a:t>
            </a:r>
          </a:p>
        </p:txBody>
      </p:sp>
      <p:graphicFrame>
        <p:nvGraphicFramePr>
          <p:cNvPr id="126" name="Google Shape;86;p18"/>
          <p:cNvGraphicFramePr/>
          <p:nvPr>
            <p:extLst>
              <p:ext uri="{D42A27DB-BD31-4B8C-83A1-F6EECF244321}">
                <p14:modId xmlns:p14="http://schemas.microsoft.com/office/powerpoint/2010/main" val="520544730"/>
              </p:ext>
            </p:extLst>
          </p:nvPr>
        </p:nvGraphicFramePr>
        <p:xfrm>
          <a:off x="428599" y="2019662"/>
          <a:ext cx="7856840" cy="2753340"/>
        </p:xfrm>
        <a:graphic>
          <a:graphicData uri="http://schemas.openxmlformats.org/drawingml/2006/table">
            <a:tbl>
              <a:tblPr>
                <a:tableStyleId>{4C3C2611-4C71-4FC5-86AE-919BDF0F9419}</a:tableStyleId>
              </a:tblPr>
              <a:tblGrid>
                <a:gridCol w="1571375">
                  <a:extLst>
                    <a:ext uri="{9D8B030D-6E8A-4147-A177-3AD203B41FA5}">
                      <a16:colId xmlns:a16="http://schemas.microsoft.com/office/drawing/2014/main" val="20000"/>
                    </a:ext>
                  </a:extLst>
                </a:gridCol>
                <a:gridCol w="1257093">
                  <a:extLst>
                    <a:ext uri="{9D8B030D-6E8A-4147-A177-3AD203B41FA5}">
                      <a16:colId xmlns:a16="http://schemas.microsoft.com/office/drawing/2014/main" val="20001"/>
                    </a:ext>
                  </a:extLst>
                </a:gridCol>
                <a:gridCol w="1257093">
                  <a:extLst>
                    <a:ext uri="{9D8B030D-6E8A-4147-A177-3AD203B41FA5}">
                      <a16:colId xmlns:a16="http://schemas.microsoft.com/office/drawing/2014/main" val="3812410909"/>
                    </a:ext>
                  </a:extLst>
                </a:gridCol>
                <a:gridCol w="1257093">
                  <a:extLst>
                    <a:ext uri="{9D8B030D-6E8A-4147-A177-3AD203B41FA5}">
                      <a16:colId xmlns:a16="http://schemas.microsoft.com/office/drawing/2014/main" val="20002"/>
                    </a:ext>
                  </a:extLst>
                </a:gridCol>
                <a:gridCol w="1257093">
                  <a:extLst>
                    <a:ext uri="{9D8B030D-6E8A-4147-A177-3AD203B41FA5}">
                      <a16:colId xmlns:a16="http://schemas.microsoft.com/office/drawing/2014/main" val="20003"/>
                    </a:ext>
                  </a:extLst>
                </a:gridCol>
                <a:gridCol w="1257093">
                  <a:extLst>
                    <a:ext uri="{9D8B030D-6E8A-4147-A177-3AD203B41FA5}">
                      <a16:colId xmlns:a16="http://schemas.microsoft.com/office/drawing/2014/main" val="20004"/>
                    </a:ext>
                  </a:extLst>
                </a:gridCol>
              </a:tblGrid>
              <a:tr h="521114">
                <a:tc>
                  <a:txBody>
                    <a:bodyPr/>
                    <a:lstStyle/>
                    <a:p>
                      <a:pPr algn="l">
                        <a:defRPr sz="1400"/>
                      </a:pPr>
                      <a:endParaRPr dirty="0"/>
                    </a:p>
                  </a:txBody>
                  <a:tcPr marL="91425" marR="91425" marT="91425" marB="91425" horzOverflow="overflow"/>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800"/>
                      </a:pPr>
                      <a:r>
                        <a:rPr lang="en-US" sz="1400"/>
                        <a:t>alpha=1</a:t>
                      </a:r>
                    </a:p>
                    <a:p>
                      <a:pPr algn="l">
                        <a:defRPr sz="1800"/>
                      </a:pPr>
                      <a:endParaRPr sz="1400" dirty="0"/>
                    </a:p>
                  </a:txBody>
                  <a:tcPr marL="91425" marR="91425" marT="91425" marB="91425" horzOverflow="overflow"/>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800"/>
                      </a:pPr>
                      <a:r>
                        <a:rPr lang="en-US" sz="1400" dirty="0"/>
                        <a:t>alpha=1e-1</a:t>
                      </a:r>
                    </a:p>
                    <a:p>
                      <a:pPr algn="l">
                        <a:defRPr sz="1800"/>
                      </a:pPr>
                      <a:endParaRPr sz="1400" dirty="0"/>
                    </a:p>
                  </a:txBody>
                  <a:tcPr marL="91425" marR="91425" marT="91425" marB="91425" horzOverflow="overflow"/>
                </a:tc>
                <a:tc>
                  <a:txBody>
                    <a:bodyPr/>
                    <a:lstStyle/>
                    <a:p>
                      <a:pPr algn="l">
                        <a:defRPr sz="1800"/>
                      </a:pPr>
                      <a:r>
                        <a:rPr sz="1400" dirty="0"/>
                        <a:t>alpha=1e-2</a:t>
                      </a:r>
                    </a:p>
                  </a:txBody>
                  <a:tcPr marL="91425" marR="91425" marT="91425" marB="91425" horzOverflow="overflow"/>
                </a:tc>
                <a:tc>
                  <a:txBody>
                    <a:bodyPr/>
                    <a:lstStyle/>
                    <a:p>
                      <a:pPr algn="l">
                        <a:defRPr sz="1800"/>
                      </a:pPr>
                      <a:r>
                        <a:rPr sz="1400"/>
                        <a:t>alpha=1e-3</a:t>
                      </a:r>
                    </a:p>
                  </a:txBody>
                  <a:tcPr marL="91425" marR="91425" marT="91425" marB="91425" horzOverflow="overflow"/>
                </a:tc>
                <a:tc>
                  <a:txBody>
                    <a:bodyPr/>
                    <a:lstStyle/>
                    <a:p>
                      <a:pPr algn="l">
                        <a:defRPr sz="1800"/>
                      </a:pPr>
                      <a:r>
                        <a:rPr sz="1400" dirty="0"/>
                        <a:t>alpha=1e-4</a:t>
                      </a:r>
                    </a:p>
                  </a:txBody>
                  <a:tcPr marL="91425" marR="91425" marT="91425" marB="91425" horzOverflow="overflow"/>
                </a:tc>
                <a:extLst>
                  <a:ext uri="{0D108BD9-81ED-4DB2-BD59-A6C34878D82A}">
                    <a16:rowId xmlns:a16="http://schemas.microsoft.com/office/drawing/2014/main" val="10000"/>
                  </a:ext>
                </a:extLst>
              </a:tr>
              <a:tr h="714590">
                <a:tc>
                  <a:txBody>
                    <a:bodyPr/>
                    <a:lstStyle/>
                    <a:p>
                      <a:pPr algn="l">
                        <a:defRPr sz="1800"/>
                      </a:pPr>
                      <a:r>
                        <a:rPr sz="1400"/>
                        <a:t>Training Accuracy</a:t>
                      </a:r>
                    </a:p>
                  </a:txBody>
                  <a:tcPr marL="91425" marR="91425" marT="91425" marB="91425" horzOverflow="overflow"/>
                </a:tc>
                <a:tc>
                  <a:txBody>
                    <a:bodyPr/>
                    <a:lstStyle/>
                    <a:p>
                      <a:pPr algn="l">
                        <a:defRPr sz="1400"/>
                      </a:pPr>
                      <a:endParaRPr dirty="0"/>
                    </a:p>
                  </a:txBody>
                  <a:tcPr marL="91425" marR="91425" marT="91425" marB="91425" horzOverflow="overflow"/>
                </a:tc>
                <a:tc>
                  <a:txBody>
                    <a:bodyPr/>
                    <a:lstStyle/>
                    <a:p>
                      <a:pPr algn="l">
                        <a:defRPr sz="1400"/>
                      </a:pPr>
                      <a:endParaRPr dirty="0"/>
                    </a:p>
                  </a:txBody>
                  <a:tcPr marL="91425" marR="91425" marT="91425" marB="91425" horzOverflow="overflow"/>
                </a:tc>
                <a:tc>
                  <a:txBody>
                    <a:bodyPr/>
                    <a:lstStyle/>
                    <a:p>
                      <a:pPr algn="l">
                        <a:defRPr sz="1400"/>
                      </a:pPr>
                      <a:endParaRPr dirty="0"/>
                    </a:p>
                  </a:txBody>
                  <a:tcPr marL="91425" marR="91425" marT="91425" marB="91425" horzOverflow="overflow"/>
                </a:tc>
                <a:tc>
                  <a:txBody>
                    <a:bodyPr/>
                    <a:lstStyle/>
                    <a:p>
                      <a:pPr algn="l">
                        <a:defRPr sz="1400"/>
                      </a:pPr>
                      <a:endParaRPr dirty="0"/>
                    </a:p>
                  </a:txBody>
                  <a:tcPr marL="91425" marR="91425" marT="91425" marB="91425" horzOverflow="overflow"/>
                </a:tc>
                <a:tc>
                  <a:txBody>
                    <a:bodyPr/>
                    <a:lstStyle/>
                    <a:p>
                      <a:pPr algn="l">
                        <a:defRPr sz="1400"/>
                      </a:pPr>
                      <a:endParaRPr/>
                    </a:p>
                  </a:txBody>
                  <a:tcPr marL="91425" marR="91425" marT="91425" marB="91425" horzOverflow="overflow"/>
                </a:tc>
                <a:extLst>
                  <a:ext uri="{0D108BD9-81ED-4DB2-BD59-A6C34878D82A}">
                    <a16:rowId xmlns:a16="http://schemas.microsoft.com/office/drawing/2014/main" val="10001"/>
                  </a:ext>
                </a:extLst>
              </a:tr>
              <a:tr h="714590">
                <a:tc>
                  <a:txBody>
                    <a:bodyPr/>
                    <a:lstStyle/>
                    <a:p>
                      <a:pPr algn="l">
                        <a:defRPr sz="1800"/>
                      </a:pPr>
                      <a:r>
                        <a:rPr sz="1400"/>
                        <a:t>Validation Accuracy</a:t>
                      </a:r>
                    </a:p>
                  </a:txBody>
                  <a:tcPr marL="91425" marR="91425" marT="91425" marB="91425" horzOverflow="overflow"/>
                </a:tc>
                <a:tc>
                  <a:txBody>
                    <a:bodyPr/>
                    <a:lstStyle/>
                    <a:p>
                      <a:pPr algn="l">
                        <a:defRPr sz="1400"/>
                      </a:pPr>
                      <a:endParaRPr dirty="0"/>
                    </a:p>
                  </a:txBody>
                  <a:tcPr marL="91425" marR="91425" marT="91425" marB="91425" horzOverflow="overflow"/>
                </a:tc>
                <a:tc>
                  <a:txBody>
                    <a:bodyPr/>
                    <a:lstStyle/>
                    <a:p>
                      <a:pPr algn="l">
                        <a:defRPr sz="1400"/>
                      </a:pPr>
                      <a:endParaRPr dirty="0"/>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dirty="0"/>
                    </a:p>
                  </a:txBody>
                  <a:tcPr marL="91425" marR="91425" marT="91425" marB="91425" horzOverflow="overflow"/>
                </a:tc>
                <a:tc>
                  <a:txBody>
                    <a:bodyPr/>
                    <a:lstStyle/>
                    <a:p>
                      <a:pPr algn="l">
                        <a:defRPr sz="1400"/>
                      </a:pPr>
                      <a:endParaRPr dirty="0"/>
                    </a:p>
                  </a:txBody>
                  <a:tcPr marL="91425" marR="91425" marT="91425" marB="91425" horzOverflow="overflow"/>
                </a:tc>
                <a:extLst>
                  <a:ext uri="{0D108BD9-81ED-4DB2-BD59-A6C34878D82A}">
                    <a16:rowId xmlns:a16="http://schemas.microsoft.com/office/drawing/2014/main" val="10002"/>
                  </a:ext>
                </a:extLst>
              </a:tr>
              <a:tr h="714590">
                <a:tc>
                  <a:txBody>
                    <a:bodyPr/>
                    <a:lstStyle/>
                    <a:p>
                      <a:pPr algn="l">
                        <a:defRPr sz="1800"/>
                      </a:pPr>
                      <a:r>
                        <a:rPr sz="1400"/>
                        <a:t>Test Accuracy</a:t>
                      </a:r>
                    </a:p>
                  </a:txBody>
                  <a:tcPr marL="91425" marR="91425" marT="91425" marB="91425" horzOverflow="overflow"/>
                </a:tc>
                <a:tc>
                  <a:txBody>
                    <a:bodyPr/>
                    <a:lstStyle/>
                    <a:p>
                      <a:pPr algn="l">
                        <a:defRPr sz="1400"/>
                      </a:pPr>
                      <a:endParaRPr dirty="0"/>
                    </a:p>
                  </a:txBody>
                  <a:tcPr marL="91425" marR="91425" marT="91425" marB="91425" horzOverflow="overflow"/>
                </a:tc>
                <a:tc>
                  <a:txBody>
                    <a:bodyPr/>
                    <a:lstStyle/>
                    <a:p>
                      <a:pPr algn="l">
                        <a:defRPr sz="1400"/>
                      </a:pPr>
                      <a:endParaRPr dirty="0"/>
                    </a:p>
                  </a:txBody>
                  <a:tcPr marL="91425" marR="91425" marT="91425" marB="91425" horzOverflow="overflow"/>
                </a:tc>
                <a:tc>
                  <a:txBody>
                    <a:bodyPr/>
                    <a:lstStyle/>
                    <a:p>
                      <a:pPr algn="l">
                        <a:defRPr sz="1400"/>
                      </a:pPr>
                      <a:endParaRPr dirty="0"/>
                    </a:p>
                  </a:txBody>
                  <a:tcPr marL="91425" marR="91425" marT="91425" marB="91425" horzOverflow="overflow"/>
                </a:tc>
                <a:tc>
                  <a:txBody>
                    <a:bodyPr/>
                    <a:lstStyle/>
                    <a:p>
                      <a:pPr algn="l">
                        <a:defRPr sz="1400"/>
                      </a:pPr>
                      <a:endParaRPr dirty="0"/>
                    </a:p>
                  </a:txBody>
                  <a:tcPr marL="91425" marR="91425" marT="91425" marB="91425" horzOverflow="overflow"/>
                </a:tc>
                <a:tc>
                  <a:txBody>
                    <a:bodyPr/>
                    <a:lstStyle/>
                    <a:p>
                      <a:pPr algn="l">
                        <a:defRPr sz="1400"/>
                      </a:pPr>
                      <a:endParaRPr dirty="0"/>
                    </a:p>
                  </a:txBody>
                  <a:tcPr marL="91425" marR="91425" marT="91425" marB="91425" horzOverflow="overflow"/>
                </a:tc>
                <a:extLst>
                  <a:ext uri="{0D108BD9-81ED-4DB2-BD59-A6C34878D82A}">
                    <a16:rowId xmlns:a16="http://schemas.microsoft.com/office/drawing/2014/main" val="10003"/>
                  </a:ext>
                </a:extLst>
              </a:tr>
            </a:tbl>
          </a:graphicData>
        </a:graphic>
      </p:graphicFrame>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Google Shape;91;p19"/>
          <p:cNvSpPr txBox="1">
            <a:spLocks noGrp="1"/>
          </p:cNvSpPr>
          <p:nvPr>
            <p:ph type="title"/>
          </p:nvPr>
        </p:nvSpPr>
        <p:spPr>
          <a:xfrm>
            <a:off x="311699" y="445025"/>
            <a:ext cx="8520602" cy="572701"/>
          </a:xfrm>
          <a:prstGeom prst="rect">
            <a:avLst/>
          </a:prstGeom>
        </p:spPr>
        <p:txBody>
          <a:bodyPr>
            <a:normAutofit fontScale="90000"/>
          </a:bodyPr>
          <a:lstStyle>
            <a:lvl1pPr defTabSz="877823">
              <a:defRPr sz="2688"/>
            </a:lvl1pPr>
          </a:lstStyle>
          <a:p>
            <a:r>
              <a:t>2. Regularization</a:t>
            </a:r>
          </a:p>
        </p:txBody>
      </p:sp>
      <p:sp>
        <p:nvSpPr>
          <p:cNvPr id="129" name="Google Shape;92;p19"/>
          <p:cNvSpPr txBox="1">
            <a:spLocks noGrp="1"/>
          </p:cNvSpPr>
          <p:nvPr>
            <p:ph type="body" idx="1"/>
          </p:nvPr>
        </p:nvSpPr>
        <p:spPr>
          <a:xfrm>
            <a:off x="311699" y="1152475"/>
            <a:ext cx="8520602" cy="3416400"/>
          </a:xfrm>
          <a:prstGeom prst="rect">
            <a:avLst/>
          </a:prstGeom>
        </p:spPr>
        <p:txBody>
          <a:bodyPr/>
          <a:lstStyle>
            <a:lvl1pPr marL="0" indent="0">
              <a:buSzTx/>
              <a:buNone/>
            </a:lvl1pPr>
          </a:lstStyle>
          <a:p>
            <a:r>
              <a:rPr dirty="0"/>
              <a:t>Plot the learning curves</a:t>
            </a:r>
            <a:r>
              <a:rPr lang="en-US" dirty="0"/>
              <a:t> using the regularization coefficients from the previous slide</a:t>
            </a:r>
            <a:r>
              <a:rPr dirty="0"/>
              <a:t> and put </a:t>
            </a:r>
            <a:r>
              <a:rPr lang="en-US" dirty="0"/>
              <a:t>them</a:t>
            </a:r>
            <a:r>
              <a:rPr dirty="0"/>
              <a:t> below</a:t>
            </a:r>
            <a:r>
              <a:rPr lang="en-US" dirty="0"/>
              <a:t> (you may add additional slides if needed).</a:t>
            </a:r>
            <a:endParaRPr dirty="0"/>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Google Shape;97;p20"/>
          <p:cNvSpPr txBox="1">
            <a:spLocks noGrp="1"/>
          </p:cNvSpPr>
          <p:nvPr>
            <p:ph type="title"/>
          </p:nvPr>
        </p:nvSpPr>
        <p:spPr>
          <a:xfrm>
            <a:off x="311699" y="445025"/>
            <a:ext cx="8520602" cy="572701"/>
          </a:xfrm>
          <a:prstGeom prst="rect">
            <a:avLst/>
          </a:prstGeom>
        </p:spPr>
        <p:txBody>
          <a:bodyPr>
            <a:normAutofit fontScale="90000"/>
          </a:bodyPr>
          <a:lstStyle>
            <a:lvl1pPr defTabSz="877823">
              <a:defRPr sz="2688"/>
            </a:lvl1pPr>
          </a:lstStyle>
          <a:p>
            <a:r>
              <a:t>2. Regularization</a:t>
            </a:r>
          </a:p>
        </p:txBody>
      </p:sp>
      <p:sp>
        <p:nvSpPr>
          <p:cNvPr id="132" name="Google Shape;98;p20"/>
          <p:cNvSpPr txBox="1">
            <a:spLocks noGrp="1"/>
          </p:cNvSpPr>
          <p:nvPr>
            <p:ph type="body" idx="1"/>
          </p:nvPr>
        </p:nvSpPr>
        <p:spPr>
          <a:xfrm>
            <a:off x="311699" y="1152475"/>
            <a:ext cx="8520602" cy="3416400"/>
          </a:xfrm>
          <a:prstGeom prst="rect">
            <a:avLst/>
          </a:prstGeom>
        </p:spPr>
        <p:txBody>
          <a:bodyPr/>
          <a:lstStyle>
            <a:lvl1pPr marL="0" indent="0">
              <a:spcBef>
                <a:spcPts val="1600"/>
              </a:spcBef>
              <a:buSzTx/>
              <a:buNone/>
            </a:lvl1pPr>
          </a:lstStyle>
          <a:p>
            <a:r>
              <a:rPr dirty="0"/>
              <a:t>Describe and Explain your findings:</a:t>
            </a:r>
            <a:r>
              <a:rPr lang="en-US" dirty="0"/>
              <a:t> </a:t>
            </a:r>
            <a:r>
              <a:rPr lang="en-US" sz="1100" i="1" dirty="0">
                <a:solidFill>
                  <a:srgbClr val="0070C0"/>
                </a:solidFill>
              </a:rPr>
              <a:t>Explanation should go into </a:t>
            </a:r>
            <a:r>
              <a:rPr lang="en-US" sz="1100" b="1" i="1" dirty="0">
                <a:solidFill>
                  <a:srgbClr val="0070C0"/>
                </a:solidFill>
              </a:rPr>
              <a:t>WHY</a:t>
            </a:r>
            <a:r>
              <a:rPr lang="en-US" sz="1100" i="1" dirty="0">
                <a:solidFill>
                  <a:srgbClr val="0070C0"/>
                </a:solidFill>
              </a:rPr>
              <a:t> things work the way they do in the context of Machine Learning theory/intuition, along with justification for your experimentation methodology. </a:t>
            </a:r>
            <a:r>
              <a:rPr lang="en-US" sz="1100" b="1" i="1" dirty="0">
                <a:solidFill>
                  <a:srgbClr val="0070C0"/>
                </a:solidFill>
              </a:rPr>
              <a:t>DO NOT </a:t>
            </a:r>
            <a:r>
              <a:rPr lang="en-US" sz="1100" i="1" dirty="0">
                <a:solidFill>
                  <a:srgbClr val="0070C0"/>
                </a:solidFill>
              </a:rPr>
              <a:t>just describe the results, for example, you should explain why the regularization value affects performance as well as model weights. Also, be mindful of the best way to organize and show the results that best emphasizes your key observations. If you need more than one slide to answer the question, you are free to create new slides.</a:t>
            </a:r>
            <a:br>
              <a:rPr lang="en-US" sz="1100" i="1" dirty="0">
                <a:solidFill>
                  <a:srgbClr val="0070C0"/>
                </a:solidFill>
              </a:rPr>
            </a:br>
            <a:endParaRPr sz="1100" dirty="0"/>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Google Shape;103;p21"/>
          <p:cNvSpPr txBox="1">
            <a:spLocks noGrp="1"/>
          </p:cNvSpPr>
          <p:nvPr>
            <p:ph type="title"/>
          </p:nvPr>
        </p:nvSpPr>
        <p:spPr>
          <a:xfrm>
            <a:off x="311699" y="445025"/>
            <a:ext cx="8520602" cy="572701"/>
          </a:xfrm>
          <a:prstGeom prst="rect">
            <a:avLst/>
          </a:prstGeom>
        </p:spPr>
        <p:txBody>
          <a:bodyPr>
            <a:normAutofit fontScale="90000"/>
          </a:bodyPr>
          <a:lstStyle>
            <a:lvl1pPr defTabSz="877823">
              <a:defRPr sz="2688"/>
            </a:lvl1pPr>
          </a:lstStyle>
          <a:p>
            <a:r>
              <a:t>3. Hyper-parameter Tuning</a:t>
            </a:r>
          </a:p>
        </p:txBody>
      </p:sp>
      <p:sp>
        <p:nvSpPr>
          <p:cNvPr id="135" name="Google Shape;104;p21"/>
          <p:cNvSpPr txBox="1">
            <a:spLocks noGrp="1"/>
          </p:cNvSpPr>
          <p:nvPr>
            <p:ph type="body" idx="1"/>
          </p:nvPr>
        </p:nvSpPr>
        <p:spPr>
          <a:xfrm>
            <a:off x="311699" y="1152475"/>
            <a:ext cx="8520602" cy="3416400"/>
          </a:xfrm>
          <a:prstGeom prst="rect">
            <a:avLst/>
          </a:prstGeom>
        </p:spPr>
        <p:txBody>
          <a:bodyPr>
            <a:normAutofit fontScale="92500" lnSpcReduction="10000"/>
          </a:bodyPr>
          <a:lstStyle/>
          <a:p>
            <a:pPr marL="0" indent="0">
              <a:buSzTx/>
              <a:buNone/>
            </a:pPr>
            <a:r>
              <a:rPr dirty="0"/>
              <a:t>You are now free to tune any hyper-parameters for better accuracy. Create a table below and put the configuration of your best model and accuracy into the table:</a:t>
            </a:r>
          </a:p>
          <a:p>
            <a:pPr marL="0" indent="0">
              <a:spcBef>
                <a:spcPts val="1600"/>
              </a:spcBef>
              <a:buSzTx/>
              <a:buNone/>
            </a:pPr>
            <a:endParaRPr dirty="0"/>
          </a:p>
          <a:p>
            <a:pPr marL="0" indent="0">
              <a:spcBef>
                <a:spcPts val="1600"/>
              </a:spcBef>
              <a:buSzTx/>
              <a:buNone/>
            </a:pPr>
            <a:endParaRPr dirty="0"/>
          </a:p>
          <a:p>
            <a:pPr marL="0" indent="0">
              <a:spcBef>
                <a:spcPts val="1600"/>
              </a:spcBef>
              <a:buSzTx/>
              <a:buNone/>
            </a:pPr>
            <a:endParaRPr dirty="0"/>
          </a:p>
          <a:p>
            <a:pPr marL="0" indent="0">
              <a:spcBef>
                <a:spcPts val="1600"/>
              </a:spcBef>
              <a:buSzTx/>
              <a:buNone/>
            </a:pPr>
            <a:r>
              <a:rPr lang="en-US" dirty="0"/>
              <a:t>E</a:t>
            </a:r>
            <a:r>
              <a:rPr dirty="0"/>
              <a:t>xplain why your choice works:</a:t>
            </a:r>
            <a:r>
              <a:rPr lang="en-US" dirty="0"/>
              <a:t> </a:t>
            </a:r>
            <a:r>
              <a:rPr lang="en-US" sz="1100" i="1" dirty="0">
                <a:solidFill>
                  <a:srgbClr val="0070C0"/>
                </a:solidFill>
              </a:rPr>
              <a:t>Explanation should go into </a:t>
            </a:r>
            <a:r>
              <a:rPr lang="en-US" sz="1100" b="1" i="1" dirty="0">
                <a:solidFill>
                  <a:srgbClr val="0070C0"/>
                </a:solidFill>
              </a:rPr>
              <a:t>WHY</a:t>
            </a:r>
            <a:r>
              <a:rPr lang="en-US" sz="1100" i="1" dirty="0">
                <a:solidFill>
                  <a:srgbClr val="0070C0"/>
                </a:solidFill>
              </a:rPr>
              <a:t> things work the way they do in the context of Machine Learning theory/intuition, along with justification for your experimentation methodology. </a:t>
            </a:r>
            <a:r>
              <a:rPr lang="en-US" sz="1100" b="1" i="1" dirty="0">
                <a:solidFill>
                  <a:srgbClr val="0070C0"/>
                </a:solidFill>
              </a:rPr>
              <a:t>DO NOT </a:t>
            </a:r>
            <a:r>
              <a:rPr lang="en-US" sz="1100" i="1" dirty="0">
                <a:solidFill>
                  <a:srgbClr val="0070C0"/>
                </a:solidFill>
              </a:rPr>
              <a:t>just describe the results, you should explain the reasoning behind your choices and what behavior you expected. Also, be cognizant of the best way to mindful and show the results that best emphasizes your key observations. If you need more than one slide to answer the question, you are free to create new slides.</a:t>
            </a:r>
            <a:br>
              <a:rPr lang="en-US" sz="1100" i="1" dirty="0">
                <a:solidFill>
                  <a:srgbClr val="0070C0"/>
                </a:solidFill>
              </a:rPr>
            </a:br>
            <a:endParaRPr sz="1100" dirty="0"/>
          </a:p>
        </p:txBody>
      </p:sp>
    </p:spTree>
  </p:cSld>
  <p:clrMapOvr>
    <a:masterClrMapping/>
  </p:clrMapOvr>
  <p:transition spd="med"/>
</p:sld>
</file>

<file path=ppt/theme/theme1.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FFAB40"/>
      </a:accent1>
      <a:accent2>
        <a:srgbClr val="212121"/>
      </a:accent2>
      <a:accent3>
        <a:srgbClr val="78909C"/>
      </a:accent3>
      <a:accent4>
        <a:srgbClr val="8F6024"/>
      </a:accent4>
      <a:accent5>
        <a:srgbClr val="0097A7"/>
      </a:accent5>
      <a:accent6>
        <a:srgbClr val="EEFF41"/>
      </a:accent6>
      <a:hlink>
        <a:srgbClr val="0000FF"/>
      </a:hlink>
      <a:folHlink>
        <a:srgbClr val="FF00FF"/>
      </a:folHlink>
    </a:clrScheme>
    <a:fontScheme name="Simple Light">
      <a:majorFont>
        <a:latin typeface="Arial"/>
        <a:ea typeface="Arial"/>
        <a:cs typeface="Arial"/>
      </a:majorFont>
      <a:minorFont>
        <a:latin typeface="Helvetica"/>
        <a:ea typeface="Helvetica"/>
        <a:cs typeface="Helvetica"/>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FFAB40"/>
      </a:accent1>
      <a:accent2>
        <a:srgbClr val="212121"/>
      </a:accent2>
      <a:accent3>
        <a:srgbClr val="78909C"/>
      </a:accent3>
      <a:accent4>
        <a:srgbClr val="8F6024"/>
      </a:accent4>
      <a:accent5>
        <a:srgbClr val="0097A7"/>
      </a:accent5>
      <a:accent6>
        <a:srgbClr val="EEFF41"/>
      </a:accent6>
      <a:hlink>
        <a:srgbClr val="0000FF"/>
      </a:hlink>
      <a:folHlink>
        <a:srgbClr val="FF00FF"/>
      </a:folHlink>
    </a:clrScheme>
    <a:fontScheme name="Simple Light">
      <a:majorFont>
        <a:latin typeface="Arial"/>
        <a:ea typeface="Arial"/>
        <a:cs typeface="Arial"/>
      </a:majorFont>
      <a:minorFont>
        <a:latin typeface="Helvetica"/>
        <a:ea typeface="Helvetica"/>
        <a:cs typeface="Helvetica"/>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213</TotalTime>
  <Words>626</Words>
  <Application>Microsoft Office PowerPoint</Application>
  <PresentationFormat>On-screen Show (16:9)</PresentationFormat>
  <Paragraphs>49</Paragraphs>
  <Slides>17</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17</vt:i4>
      </vt:variant>
    </vt:vector>
  </HeadingPairs>
  <TitlesOfParts>
    <vt:vector size="19" baseType="lpstr">
      <vt:lpstr>Arial</vt:lpstr>
      <vt:lpstr>Simple Light</vt:lpstr>
      <vt:lpstr>Assignment 1 Theory Problem Set DO NOT TAG</vt:lpstr>
      <vt:lpstr>Theory PS Q1. Feel free to add extra slides if needed.</vt:lpstr>
      <vt:lpstr>Theory PS Q2. Feel free to add extra slides if needed.</vt:lpstr>
      <vt:lpstr>Theory PS Q3. Feel free to add extra slides if needed.</vt:lpstr>
      <vt:lpstr>Assignment 1 Paper Review DO NOT TAG</vt:lpstr>
      <vt:lpstr>Provide a short preview of the paper of your choice.</vt:lpstr>
      <vt:lpstr>Paper specific Q1. Feel free to add extra slides if needed.</vt:lpstr>
      <vt:lpstr>Paper specific Q2. Feel free to add extra slides if needed.</vt:lpstr>
      <vt:lpstr>Assignment 1 Writeup DO NOT TAG</vt:lpstr>
      <vt:lpstr>PowerPoint Presentation</vt:lpstr>
      <vt:lpstr>Learning Rates</vt:lpstr>
      <vt:lpstr>Learning Curve</vt:lpstr>
      <vt:lpstr>Learning Rates</vt:lpstr>
      <vt:lpstr>2. Regularization</vt:lpstr>
      <vt:lpstr>2. Regularization</vt:lpstr>
      <vt:lpstr>2. Regularization</vt:lpstr>
      <vt:lpstr>3. Hyper-parameter Tuning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 1 Writeup</dc:title>
  <cp:lastModifiedBy>Nguyen, Kyle</cp:lastModifiedBy>
  <cp:revision>39</cp:revision>
  <dcterms:modified xsi:type="dcterms:W3CDTF">2026-01-27T14:44:52Z</dcterms:modified>
</cp:coreProperties>
</file>